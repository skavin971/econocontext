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0" r:id="rId3"/>
    <p:sldId id="257" r:id="rId4"/>
    <p:sldId id="259" r:id="rId5"/>
    <p:sldId id="258" r:id="rId6"/>
    <p:sldId id="263" r:id="rId7"/>
    <p:sldId id="262" r:id="rId8"/>
    <p:sldId id="264" r:id="rId9"/>
    <p:sldId id="265" r:id="rId10"/>
    <p:sldId id="261" r:id="rId11"/>
    <p:sldId id="266" r:id="rId12"/>
    <p:sldId id="272" r:id="rId13"/>
    <p:sldId id="267" r:id="rId14"/>
    <p:sldId id="269" r:id="rId15"/>
    <p:sldId id="271" r:id="rId16"/>
    <p:sldId id="268" r:id="rId17"/>
    <p:sldId id="270"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13"/>
    <p:restoredTop sz="94610"/>
  </p:normalViewPr>
  <p:slideViewPr>
    <p:cSldViewPr snapToGrid="0" snapToObjects="1">
      <p:cViewPr varScale="1">
        <p:scale>
          <a:sx n="77" d="100"/>
          <a:sy n="77" d="100"/>
        </p:scale>
        <p:origin x="216"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645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framing slide for the research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one long-running agent's growing KV cache against per-agent bounded caches under delegation.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coding example: dashed edges are delegation, solid edges are recorded input/output. Nodes are agents in the delegation network.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DB with hash-versioned evidence; this is the slide that restores the original shared context source idea.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model spans the whole execution, not just token counts.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planner's five options for the next operation.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three learned components; note there is no single universal probability.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zones from frozen instructions to volatile request.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 scheduling, concurrency, and publication guarantees.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end-to-end pipeline before covering each component in detail.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contribution, the cost-minimization framing, and how we'll evaluate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of the planner's selection logic, each isolating what it adds; then how cost model, policy, assembler, and manager fit together.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architecture comparisons from learning comparisons; label ports vs native reproductions.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table of related systems.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ACM, Context-Folding, and LCM training approaches against our proposed learned planner.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open decisions still to resolve.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concrete build order.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1282363"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Long tasks need better control over what enters context</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914400" y="3270796"/>
            <a:ext cx="8753029" cy="811411"/>
          </a:xfrm>
          <a:prstGeom prst="rect">
            <a:avLst/>
          </a:prstGeom>
          <a:noFill/>
          <a:ln/>
        </p:spPr>
        <p:txBody>
          <a:bodyPr wrap="square" lIns="25400" tIns="25400" rIns="25400" bIns="25400" rtlCol="0" anchor="t">
            <a:normAutofit lnSpcReduction="10000"/>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Agent histories grow as tools produce observations and intermediate work.</a:t>
            </a:r>
            <a:endParaRPr lang="en-US" sz="2175" dirty="0"/>
          </a:p>
        </p:txBody>
      </p:sp>
      <p:sp>
        <p:nvSpPr>
          <p:cNvPr id="6" name="Text 4"/>
          <p:cNvSpPr/>
          <p:nvPr/>
        </p:nvSpPr>
        <p:spPr>
          <a:xfrm>
            <a:off x="914400" y="4253657"/>
            <a:ext cx="8753029" cy="1198066"/>
          </a:xfrm>
          <a:prstGeom prst="rect">
            <a:avLst/>
          </a:prstGeom>
          <a:noFill/>
          <a:ln/>
        </p:spPr>
        <p:txBody>
          <a:bodyPr wrap="square" lIns="25400" tIns="25400" rIns="25400" bIns="25400" rtlCol="0" anchor="t">
            <a:normAutofit lnSpcReduction="10000"/>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Models can use information unevenly across prompt positions; middle information is sometimes harder to exploit, with effects depending on model and task.</a:t>
            </a:r>
            <a:endParaRPr lang="en-US" sz="2175" dirty="0"/>
          </a:p>
        </p:txBody>
      </p:sp>
      <p:sp>
        <p:nvSpPr>
          <p:cNvPr id="7" name="Text 5"/>
          <p:cNvSpPr/>
          <p:nvPr/>
        </p:nvSpPr>
        <p:spPr>
          <a:xfrm>
            <a:off x="914400" y="5623173"/>
            <a:ext cx="8753029" cy="811411"/>
          </a:xfrm>
          <a:prstGeom prst="rect">
            <a:avLst/>
          </a:prstGeom>
          <a:noFill/>
          <a:ln/>
        </p:spPr>
        <p:txBody>
          <a:bodyPr wrap="square" lIns="25400" tIns="25400" rIns="25400" bIns="25400" rtlCol="0" anchor="t">
            <a:normAutofit lnSpcReduction="10000"/>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Replacing history with a summary can omit details and disrupt prefix reuse after the rewritten portion.</a:t>
            </a:r>
            <a:endParaRPr lang="en-US" sz="2175" dirty="0"/>
          </a:p>
        </p:txBody>
      </p:sp>
      <p:sp>
        <p:nvSpPr>
          <p:cNvPr id="8" name="Shape 6"/>
          <p:cNvSpPr/>
          <p:nvPr/>
        </p:nvSpPr>
        <p:spPr>
          <a:xfrm>
            <a:off x="914400" y="6682234"/>
            <a:ext cx="38100" cy="874365"/>
          </a:xfrm>
          <a:prstGeom prst="rect">
            <a:avLst/>
          </a:prstGeom>
          <a:solidFill>
            <a:srgbClr val="3D5AA8"/>
          </a:solidFill>
          <a:ln/>
        </p:spPr>
        <p:txBody>
          <a:bodyPr/>
          <a:lstStyle/>
          <a:p>
            <a:endParaRPr lang="en-US"/>
          </a:p>
        </p:txBody>
      </p:sp>
      <p:sp>
        <p:nvSpPr>
          <p:cNvPr id="9" name="Text 7"/>
          <p:cNvSpPr/>
          <p:nvPr/>
        </p:nvSpPr>
        <p:spPr>
          <a:xfrm>
            <a:off x="1145189" y="6850335"/>
            <a:ext cx="8478328" cy="912465"/>
          </a:xfrm>
          <a:prstGeom prst="rect">
            <a:avLst/>
          </a:prstGeom>
          <a:noFill/>
          <a:ln/>
        </p:spPr>
        <p:txBody>
          <a:bodyPr wrap="square" lIns="25400" tIns="25400" rIns="25400" bIns="25400" rtlCol="0" anchor="t">
            <a:normAutofit lnSpcReduction="10000"/>
          </a:bodyPr>
          <a:lstStyle/>
          <a:p>
            <a:pPr marL="0" indent="0" algn="l">
              <a:lnSpc>
                <a:spcPct val="117692"/>
              </a:lnSpc>
              <a:buNone/>
            </a:pPr>
            <a:r>
              <a:rPr lang="en-US" sz="2550" dirty="0">
                <a:solidFill>
                  <a:srgbClr val="1C1C1A"/>
                </a:solidFill>
                <a:latin typeface="Arial" pitchFamily="34" charset="0"/>
                <a:ea typeface="Arial" pitchFamily="34" charset="-122"/>
                <a:cs typeface="Arial" pitchFamily="34" charset="-120"/>
              </a:rPr>
              <a:t>Our goal: preserve accessible evidence while keeping each working context useful and bounded.</a:t>
            </a:r>
            <a:endParaRPr lang="en-US" sz="2550" dirty="0"/>
          </a:p>
        </p:txBody>
      </p:sp>
      <p:sp>
        <p:nvSpPr>
          <p:cNvPr id="10" name="Text 8"/>
          <p:cNvSpPr/>
          <p:nvPr/>
        </p:nvSpPr>
        <p:spPr>
          <a:xfrm>
            <a:off x="9983986" y="4631010"/>
            <a:ext cx="8128575" cy="333375"/>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767468"/>
                </a:solidFill>
                <a:latin typeface="IBM Plex Mono" pitchFamily="34" charset="0"/>
                <a:ea typeface="IBM Plex Mono" pitchFamily="34" charset="-122"/>
                <a:cs typeface="IBM Plex Mono" pitchFamily="34" charset="-120"/>
              </a:rPr>
              <a:t>AGENT HISTORY (GROWING) →</a:t>
            </a:r>
            <a:endParaRPr lang="en-US" sz="1800" dirty="0"/>
          </a:p>
        </p:txBody>
      </p:sp>
      <p:sp>
        <p:nvSpPr>
          <p:cNvPr id="11" name="Shape 9"/>
          <p:cNvSpPr/>
          <p:nvPr/>
        </p:nvSpPr>
        <p:spPr>
          <a:xfrm>
            <a:off x="9983986" y="5097735"/>
            <a:ext cx="1114276" cy="571500"/>
          </a:xfrm>
          <a:prstGeom prst="rect">
            <a:avLst/>
          </a:prstGeom>
          <a:ln w="19050">
            <a:solidFill>
              <a:srgbClr val="1C1C1A"/>
            </a:solidFill>
            <a:prstDash val="solid"/>
          </a:ln>
        </p:spPr>
        <p:txBody>
          <a:bodyPr/>
          <a:lstStyle/>
          <a:p>
            <a:endParaRPr lang="en-US"/>
          </a:p>
        </p:txBody>
      </p:sp>
      <p:sp>
        <p:nvSpPr>
          <p:cNvPr id="12" name="Shape 10"/>
          <p:cNvSpPr/>
          <p:nvPr/>
        </p:nvSpPr>
        <p:spPr>
          <a:xfrm>
            <a:off x="11174462" y="5097735"/>
            <a:ext cx="1114351" cy="571500"/>
          </a:xfrm>
          <a:prstGeom prst="rect">
            <a:avLst/>
          </a:prstGeom>
          <a:ln w="19050">
            <a:solidFill>
              <a:srgbClr val="1C1C1A"/>
            </a:solidFill>
            <a:prstDash val="solid"/>
          </a:ln>
        </p:spPr>
        <p:txBody>
          <a:bodyPr/>
          <a:lstStyle/>
          <a:p>
            <a:endParaRPr lang="en-US"/>
          </a:p>
        </p:txBody>
      </p:sp>
      <p:sp>
        <p:nvSpPr>
          <p:cNvPr id="13" name="Shape 11"/>
          <p:cNvSpPr/>
          <p:nvPr/>
        </p:nvSpPr>
        <p:spPr>
          <a:xfrm>
            <a:off x="12365013" y="5097735"/>
            <a:ext cx="1114276" cy="571500"/>
          </a:xfrm>
          <a:prstGeom prst="rect">
            <a:avLst/>
          </a:prstGeom>
          <a:ln w="19050">
            <a:solidFill>
              <a:srgbClr val="1C1C1A"/>
            </a:solidFill>
            <a:prstDash val="solid"/>
          </a:ln>
        </p:spPr>
        <p:txBody>
          <a:bodyPr/>
          <a:lstStyle/>
          <a:p>
            <a:endParaRPr lang="en-US"/>
          </a:p>
        </p:txBody>
      </p:sp>
      <p:sp>
        <p:nvSpPr>
          <p:cNvPr id="14" name="Shape 12"/>
          <p:cNvSpPr/>
          <p:nvPr/>
        </p:nvSpPr>
        <p:spPr>
          <a:xfrm>
            <a:off x="13555489" y="5097735"/>
            <a:ext cx="1437159" cy="571500"/>
          </a:xfrm>
          <a:prstGeom prst="rect">
            <a:avLst/>
          </a:prstGeom>
          <a:solidFill>
            <a:srgbClr val="3A5AA5">
              <a:alpha val="12000"/>
            </a:srgbClr>
          </a:solidFill>
          <a:ln w="19050">
            <a:solidFill>
              <a:srgbClr val="3D5AA8"/>
            </a:solidFill>
            <a:prstDash val="solid"/>
          </a:ln>
        </p:spPr>
        <p:txBody>
          <a:bodyPr/>
          <a:lstStyle/>
          <a:p>
            <a:endParaRPr lang="en-US"/>
          </a:p>
        </p:txBody>
      </p:sp>
      <p:sp>
        <p:nvSpPr>
          <p:cNvPr id="15" name="Shape 13"/>
          <p:cNvSpPr/>
          <p:nvPr/>
        </p:nvSpPr>
        <p:spPr>
          <a:xfrm>
            <a:off x="15068848" y="5097735"/>
            <a:ext cx="1114276" cy="571500"/>
          </a:xfrm>
          <a:prstGeom prst="rect">
            <a:avLst/>
          </a:prstGeom>
          <a:ln w="19050">
            <a:solidFill>
              <a:srgbClr val="1C1C1A"/>
            </a:solidFill>
            <a:prstDash val="solid"/>
          </a:ln>
        </p:spPr>
        <p:txBody>
          <a:bodyPr/>
          <a:lstStyle/>
          <a:p>
            <a:endParaRPr lang="en-US"/>
          </a:p>
        </p:txBody>
      </p:sp>
      <p:sp>
        <p:nvSpPr>
          <p:cNvPr id="16" name="Shape 14"/>
          <p:cNvSpPr/>
          <p:nvPr/>
        </p:nvSpPr>
        <p:spPr>
          <a:xfrm>
            <a:off x="16259324" y="5097735"/>
            <a:ext cx="1114276" cy="571500"/>
          </a:xfrm>
          <a:prstGeom prst="rect">
            <a:avLst/>
          </a:prstGeom>
          <a:ln w="19050">
            <a:solidFill>
              <a:srgbClr val="1C1C1A"/>
            </a:solidFill>
            <a:prstDash val="solid"/>
          </a:ln>
        </p:spPr>
        <p:txBody>
          <a:bodyPr/>
          <a:lstStyle/>
          <a:p>
            <a:endParaRPr lang="en-US"/>
          </a:p>
        </p:txBody>
      </p:sp>
      <p:sp>
        <p:nvSpPr>
          <p:cNvPr id="17" name="Text 15"/>
          <p:cNvSpPr/>
          <p:nvPr/>
        </p:nvSpPr>
        <p:spPr>
          <a:xfrm>
            <a:off x="9614505" y="5840685"/>
            <a:ext cx="8128575" cy="333375"/>
          </a:xfrm>
          <a:prstGeom prst="rect">
            <a:avLst/>
          </a:prstGeom>
          <a:noFill/>
          <a:ln/>
        </p:spPr>
        <p:txBody>
          <a:bodyPr wrap="square" lIns="25400" tIns="25400" rIns="25400" bIns="25400" rtlCol="0" anchor="t">
            <a:normAutofit/>
          </a:bodyPr>
          <a:lstStyle/>
          <a:p>
            <a:pPr marL="0" indent="0" algn="ctr">
              <a:buNone/>
            </a:pPr>
            <a:r>
              <a:rPr lang="en-US" sz="1800" dirty="0">
                <a:solidFill>
                  <a:srgbClr val="3D5AA8"/>
                </a:solidFill>
                <a:latin typeface="IBM Plex Mono" pitchFamily="34" charset="0"/>
                <a:ea typeface="IBM Plex Mono" pitchFamily="34" charset="-122"/>
                <a:cs typeface="IBM Plex Mono" pitchFamily="34" charset="-120"/>
              </a:rPr>
              <a:t>↑ important middle fact</a:t>
            </a:r>
            <a:endParaRPr lang="en-US" sz="1800" dirty="0"/>
          </a:p>
        </p:txBody>
      </p:sp>
      <p:sp>
        <p:nvSpPr>
          <p:cNvPr id="18" name="Text 16"/>
          <p:cNvSpPr/>
          <p:nvPr/>
        </p:nvSpPr>
        <p:spPr>
          <a:xfrm>
            <a:off x="9900096" y="7599163"/>
            <a:ext cx="8128575" cy="333375"/>
          </a:xfrm>
          <a:prstGeom prst="rect">
            <a:avLst/>
          </a:prstGeom>
          <a:noFill/>
          <a:ln/>
        </p:spPr>
        <p:txBody>
          <a:bodyPr wrap="square" lIns="25400" tIns="25400" rIns="25400" bIns="25400" rtlCol="0" anchor="t">
            <a:normAutofit/>
          </a:bodyPr>
          <a:lstStyle/>
          <a:p>
            <a:pPr marL="0" indent="0" algn="ctr">
              <a:buNone/>
            </a:pPr>
            <a:r>
              <a:rPr lang="en-US" sz="1800" dirty="0">
                <a:solidFill>
                  <a:srgbClr val="767468"/>
                </a:solidFill>
                <a:latin typeface="IBM Plex Mono" pitchFamily="34" charset="0"/>
                <a:ea typeface="IBM Plex Mono" pitchFamily="34" charset="-122"/>
                <a:cs typeface="IBM Plex Mono" pitchFamily="34" charset="-120"/>
              </a:rPr>
              <a:t>↓ replace, preserve reference</a:t>
            </a:r>
            <a:endParaRPr lang="en-US" sz="1800" dirty="0"/>
          </a:p>
        </p:txBody>
      </p:sp>
      <p:sp>
        <p:nvSpPr>
          <p:cNvPr id="19" name="Shape 17"/>
          <p:cNvSpPr/>
          <p:nvPr/>
        </p:nvSpPr>
        <p:spPr>
          <a:xfrm>
            <a:off x="9983986" y="6850335"/>
            <a:ext cx="3647182" cy="571500"/>
          </a:xfrm>
          <a:prstGeom prst="rect">
            <a:avLst/>
          </a:prstGeom>
          <a:ln w="19050">
            <a:solidFill>
              <a:srgbClr val="1C1C1A"/>
            </a:solidFill>
            <a:prstDash val="dash"/>
          </a:ln>
        </p:spPr>
        <p:txBody>
          <a:bodyPr/>
          <a:lstStyle/>
          <a:p>
            <a:endParaRPr lang="en-US"/>
          </a:p>
        </p:txBody>
      </p:sp>
      <p:sp>
        <p:nvSpPr>
          <p:cNvPr id="20" name="Text 18"/>
          <p:cNvSpPr/>
          <p:nvPr/>
        </p:nvSpPr>
        <p:spPr>
          <a:xfrm>
            <a:off x="10916022" y="6988448"/>
            <a:ext cx="1961421"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shared prefix</a:t>
            </a:r>
            <a:endParaRPr lang="en-US" sz="1800" dirty="0"/>
          </a:p>
        </p:txBody>
      </p:sp>
      <p:sp>
        <p:nvSpPr>
          <p:cNvPr id="21" name="Shape 19"/>
          <p:cNvSpPr/>
          <p:nvPr/>
        </p:nvSpPr>
        <p:spPr>
          <a:xfrm>
            <a:off x="13726418" y="6850335"/>
            <a:ext cx="3647182" cy="571500"/>
          </a:xfrm>
          <a:prstGeom prst="rect">
            <a:avLst/>
          </a:prstGeom>
          <a:ln w="19050">
            <a:solidFill>
              <a:srgbClr val="3D5AA8"/>
            </a:solidFill>
            <a:prstDash val="solid"/>
          </a:ln>
        </p:spPr>
        <p:txBody>
          <a:bodyPr/>
          <a:lstStyle/>
          <a:p>
            <a:endParaRPr lang="en-US"/>
          </a:p>
        </p:txBody>
      </p:sp>
      <p:sp>
        <p:nvSpPr>
          <p:cNvPr id="22" name="Text 20"/>
          <p:cNvSpPr/>
          <p:nvPr/>
        </p:nvSpPr>
        <p:spPr>
          <a:xfrm>
            <a:off x="14246944" y="6988448"/>
            <a:ext cx="286666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compact replacement</a:t>
            </a:r>
            <a:endParaRPr lang="en-US" sz="1800" dirty="0"/>
          </a:p>
        </p:txBody>
      </p:sp>
      <p:sp>
        <p:nvSpPr>
          <p:cNvPr id="24" name="Text 22"/>
          <p:cNvSpPr/>
          <p:nvPr/>
        </p:nvSpPr>
        <p:spPr>
          <a:xfrm>
            <a:off x="12084254" y="6178822"/>
            <a:ext cx="3018093" cy="333375"/>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 Lost in the Middle</a:t>
            </a:r>
            <a:endParaRPr lang="en-US" sz="1800" dirty="0"/>
          </a:p>
        </p:txBody>
      </p:sp>
      <p:sp>
        <p:nvSpPr>
          <p:cNvPr id="25" name="Shape 5">
            <a:extLst>
              <a:ext uri="{FF2B5EF4-FFF2-40B4-BE49-F238E27FC236}">
                <a16:creationId xmlns:a16="http://schemas.microsoft.com/office/drawing/2014/main" id="{01893E5F-510C-B7DB-84C3-036BE980BA80}"/>
              </a:ext>
            </a:extLst>
          </p:cNvPr>
          <p:cNvSpPr/>
          <p:nvPr/>
        </p:nvSpPr>
        <p:spPr>
          <a:xfrm>
            <a:off x="9983986" y="3176166"/>
            <a:ext cx="7301805" cy="472314"/>
          </a:xfrm>
          <a:prstGeom prst="rect">
            <a:avLst/>
          </a:prstGeom>
          <a:solidFill>
            <a:srgbClr val="3B5BA8">
              <a:alpha val="22000"/>
            </a:srgbClr>
          </a:solidFill>
          <a:ln/>
        </p:spPr>
        <p:txBody>
          <a:bodyPr/>
          <a:lstStyle/>
          <a:p>
            <a:endParaRPr lang="en-US"/>
          </a:p>
        </p:txBody>
      </p:sp>
      <p:sp>
        <p:nvSpPr>
          <p:cNvPr id="26" name="Text 7">
            <a:extLst>
              <a:ext uri="{FF2B5EF4-FFF2-40B4-BE49-F238E27FC236}">
                <a16:creationId xmlns:a16="http://schemas.microsoft.com/office/drawing/2014/main" id="{E658AA16-85D6-BCB7-DDC3-259C6178C456}"/>
              </a:ext>
            </a:extLst>
          </p:cNvPr>
          <p:cNvSpPr/>
          <p:nvPr/>
        </p:nvSpPr>
        <p:spPr>
          <a:xfrm>
            <a:off x="9983986" y="3929476"/>
            <a:ext cx="8309758" cy="363396"/>
          </a:xfrm>
          <a:prstGeom prst="rect">
            <a:avLst/>
          </a:prstGeom>
          <a:noFill/>
          <a:ln/>
        </p:spPr>
        <p:txBody>
          <a:bodyPr wrap="square" lIns="25400" tIns="25400" rIns="25400" bIns="25400" rtlCol="0" anchor="t">
            <a:normAutofit/>
          </a:bodyPr>
          <a:lstStyle/>
          <a:p>
            <a:pPr marL="0" indent="0" algn="l">
              <a:lnSpc>
                <a:spcPct val="122182"/>
              </a:lnSpc>
              <a:buNone/>
            </a:pPr>
            <a:r>
              <a:rPr lang="en-US" sz="1800" dirty="0">
                <a:solidFill>
                  <a:srgbClr val="767468"/>
                </a:solidFill>
                <a:latin typeface="Arial" pitchFamily="34" charset="0"/>
                <a:ea typeface="Arial" pitchFamily="34" charset="-122"/>
                <a:cs typeface="Arial" pitchFamily="34" charset="-120"/>
              </a:rPr>
              <a:t>KV cache grows with every turn until it presses against the context window limit.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8105120" cy="1524000"/>
          </a:xfrm>
          <a:prstGeom prst="rect">
            <a:avLst/>
          </a:prstGeom>
          <a:noFill/>
          <a:ln/>
        </p:spPr>
        <p:txBody>
          <a:bodyPr wrap="square" lIns="25400" tIns="25400" rIns="25400" bIns="25400" rtlCol="0" anchor="t">
            <a:noAutofit/>
          </a:bodyPr>
          <a:lstStyle/>
          <a:p>
            <a:r>
              <a:rPr lang="en-US" sz="3600" b="1" dirty="0">
                <a:latin typeface="IBM Plex Mono" panose="020B0509050203000203" pitchFamily="49" charset="77"/>
              </a:rPr>
              <a:t>Multilayer recursive delegation with shared agent memory</a:t>
            </a:r>
            <a:endParaRPr lang="en-US" sz="7200" b="1" dirty="0">
              <a:latin typeface="IBM Plex Mono" panose="020B0509050203000203" pitchFamily="49" charset="77"/>
            </a:endParaRPr>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Text 3"/>
          <p:cNvSpPr/>
          <p:nvPr/>
        </p:nvSpPr>
        <p:spPr>
          <a:xfrm>
            <a:off x="914400" y="5293965"/>
            <a:ext cx="87382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SINGLE LONG-RUNNING AGENT</a:t>
            </a:r>
            <a:endParaRPr lang="en-US" sz="1800" dirty="0"/>
          </a:p>
        </p:txBody>
      </p:sp>
      <p:sp>
        <p:nvSpPr>
          <p:cNvPr id="6" name="Shape 4"/>
          <p:cNvSpPr/>
          <p:nvPr/>
        </p:nvSpPr>
        <p:spPr>
          <a:xfrm>
            <a:off x="914400" y="5779740"/>
            <a:ext cx="7943850" cy="609600"/>
          </a:xfrm>
          <a:prstGeom prst="rect">
            <a:avLst/>
          </a:prstGeom>
          <a:ln w="19050">
            <a:solidFill>
              <a:srgbClr val="1C1C1A"/>
            </a:solidFill>
            <a:prstDash val="solid"/>
          </a:ln>
        </p:spPr>
        <p:txBody>
          <a:bodyPr/>
          <a:lstStyle/>
          <a:p>
            <a:endParaRPr lang="en-US"/>
          </a:p>
        </p:txBody>
      </p:sp>
      <p:sp>
        <p:nvSpPr>
          <p:cNvPr id="7" name="Shape 5"/>
          <p:cNvSpPr/>
          <p:nvPr/>
        </p:nvSpPr>
        <p:spPr>
          <a:xfrm>
            <a:off x="933450" y="5848383"/>
            <a:ext cx="7301805" cy="472314"/>
          </a:xfrm>
          <a:prstGeom prst="rect">
            <a:avLst/>
          </a:prstGeom>
          <a:solidFill>
            <a:srgbClr val="3B5BA8">
              <a:alpha val="22000"/>
            </a:srgbClr>
          </a:solidFill>
          <a:ln/>
        </p:spPr>
        <p:txBody>
          <a:bodyPr/>
          <a:lstStyle/>
          <a:p>
            <a:endParaRPr lang="en-US"/>
          </a:p>
        </p:txBody>
      </p:sp>
      <p:sp>
        <p:nvSpPr>
          <p:cNvPr id="8" name="Shape 6"/>
          <p:cNvSpPr/>
          <p:nvPr/>
        </p:nvSpPr>
        <p:spPr>
          <a:xfrm>
            <a:off x="8206680" y="5798790"/>
            <a:ext cx="28575" cy="571500"/>
          </a:xfrm>
          <a:prstGeom prst="rect">
            <a:avLst/>
          </a:prstGeom>
          <a:solidFill>
            <a:srgbClr val="3D5AA8"/>
          </a:solidFill>
          <a:ln/>
        </p:spPr>
        <p:txBody>
          <a:bodyPr/>
          <a:lstStyle/>
          <a:p>
            <a:endParaRPr lang="en-US"/>
          </a:p>
        </p:txBody>
      </p:sp>
      <p:sp>
        <p:nvSpPr>
          <p:cNvPr id="9" name="Text 7"/>
          <p:cNvSpPr/>
          <p:nvPr/>
        </p:nvSpPr>
        <p:spPr>
          <a:xfrm>
            <a:off x="914400" y="6579840"/>
            <a:ext cx="8738235" cy="358080"/>
          </a:xfrm>
          <a:prstGeom prst="rect">
            <a:avLst/>
          </a:prstGeom>
          <a:noFill/>
          <a:ln/>
        </p:spPr>
        <p:txBody>
          <a:bodyPr wrap="square" lIns="25400" tIns="25400" rIns="25400" bIns="25400" rtlCol="0" anchor="t">
            <a:normAutofit lnSpcReduction="10000"/>
          </a:bodyPr>
          <a:lstStyle/>
          <a:p>
            <a:pPr marL="0" indent="0" algn="l">
              <a:lnSpc>
                <a:spcPct val="122182"/>
              </a:lnSpc>
              <a:buNone/>
            </a:pPr>
            <a:r>
              <a:rPr lang="en-US" sz="1800" dirty="0">
                <a:solidFill>
                  <a:srgbClr val="767468"/>
                </a:solidFill>
                <a:latin typeface="Arial" pitchFamily="34" charset="0"/>
                <a:ea typeface="Arial" pitchFamily="34" charset="-122"/>
                <a:cs typeface="Arial" pitchFamily="34" charset="-120"/>
              </a:rPr>
              <a:t>KV cache grows with every turn until it presses against the context window limit.</a:t>
            </a:r>
            <a:endParaRPr lang="en-US" sz="1800" dirty="0"/>
          </a:p>
        </p:txBody>
      </p:sp>
      <p:sp>
        <p:nvSpPr>
          <p:cNvPr id="10" name="Text 8"/>
          <p:cNvSpPr/>
          <p:nvPr/>
        </p:nvSpPr>
        <p:spPr>
          <a:xfrm>
            <a:off x="9429750" y="4438650"/>
            <a:ext cx="87382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DELEGATED AGENTS</a:t>
            </a:r>
            <a:endParaRPr lang="en-US" sz="1800" dirty="0"/>
          </a:p>
        </p:txBody>
      </p:sp>
      <p:sp>
        <p:nvSpPr>
          <p:cNvPr id="11" name="Text 9"/>
          <p:cNvSpPr/>
          <p:nvPr/>
        </p:nvSpPr>
        <p:spPr>
          <a:xfrm>
            <a:off x="9429750" y="4886325"/>
            <a:ext cx="1409700" cy="628650"/>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Root agent</a:t>
            </a:r>
            <a:endParaRPr lang="en-US" sz="1800" dirty="0"/>
          </a:p>
        </p:txBody>
      </p:sp>
      <p:sp>
        <p:nvSpPr>
          <p:cNvPr id="12" name="Shape 10"/>
          <p:cNvSpPr/>
          <p:nvPr/>
        </p:nvSpPr>
        <p:spPr>
          <a:xfrm>
            <a:off x="10896600" y="4991100"/>
            <a:ext cx="6477000" cy="381000"/>
          </a:xfrm>
          <a:prstGeom prst="rect">
            <a:avLst/>
          </a:prstGeom>
          <a:ln w="19050">
            <a:solidFill>
              <a:srgbClr val="1C1C1A"/>
            </a:solidFill>
            <a:prstDash val="solid"/>
          </a:ln>
        </p:spPr>
        <p:txBody>
          <a:bodyPr/>
          <a:lstStyle/>
          <a:p>
            <a:endParaRPr lang="en-US"/>
          </a:p>
        </p:txBody>
      </p:sp>
      <p:sp>
        <p:nvSpPr>
          <p:cNvPr id="13" name="Shape 11"/>
          <p:cNvSpPr/>
          <p:nvPr/>
        </p:nvSpPr>
        <p:spPr>
          <a:xfrm>
            <a:off x="10915650" y="5010150"/>
            <a:ext cx="2446734" cy="342900"/>
          </a:xfrm>
          <a:prstGeom prst="rect">
            <a:avLst/>
          </a:prstGeom>
          <a:solidFill>
            <a:srgbClr val="3B5BA8">
              <a:alpha val="22000"/>
            </a:srgbClr>
          </a:solidFill>
          <a:ln/>
        </p:spPr>
        <p:txBody>
          <a:bodyPr/>
          <a:lstStyle/>
          <a:p>
            <a:endParaRPr lang="en-US"/>
          </a:p>
        </p:txBody>
      </p:sp>
      <p:sp>
        <p:nvSpPr>
          <p:cNvPr id="14" name="Text 12"/>
          <p:cNvSpPr/>
          <p:nvPr/>
        </p:nvSpPr>
        <p:spPr>
          <a:xfrm>
            <a:off x="9429750" y="5591175"/>
            <a:ext cx="1409700" cy="628650"/>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locate bug</a:t>
            </a:r>
            <a:endParaRPr lang="en-US" sz="1800" dirty="0"/>
          </a:p>
        </p:txBody>
      </p:sp>
      <p:sp>
        <p:nvSpPr>
          <p:cNvPr id="15" name="Shape 13"/>
          <p:cNvSpPr/>
          <p:nvPr/>
        </p:nvSpPr>
        <p:spPr>
          <a:xfrm>
            <a:off x="10896600" y="5695950"/>
            <a:ext cx="6477000" cy="381000"/>
          </a:xfrm>
          <a:prstGeom prst="rect">
            <a:avLst/>
          </a:prstGeom>
          <a:ln w="19050">
            <a:solidFill>
              <a:srgbClr val="1C1C1A"/>
            </a:solidFill>
            <a:prstDash val="solid"/>
          </a:ln>
        </p:spPr>
        <p:txBody>
          <a:bodyPr/>
          <a:lstStyle/>
          <a:p>
            <a:endParaRPr lang="en-US"/>
          </a:p>
        </p:txBody>
      </p:sp>
      <p:sp>
        <p:nvSpPr>
          <p:cNvPr id="16" name="Shape 14"/>
          <p:cNvSpPr/>
          <p:nvPr/>
        </p:nvSpPr>
        <p:spPr>
          <a:xfrm>
            <a:off x="10915650" y="5715000"/>
            <a:ext cx="1996008" cy="342900"/>
          </a:xfrm>
          <a:prstGeom prst="rect">
            <a:avLst/>
          </a:prstGeom>
          <a:solidFill>
            <a:srgbClr val="3B5BA8">
              <a:alpha val="22000"/>
            </a:srgbClr>
          </a:solidFill>
          <a:ln/>
        </p:spPr>
        <p:txBody>
          <a:bodyPr/>
          <a:lstStyle/>
          <a:p>
            <a:endParaRPr lang="en-US"/>
          </a:p>
        </p:txBody>
      </p:sp>
      <p:sp>
        <p:nvSpPr>
          <p:cNvPr id="17" name="Text 15"/>
          <p:cNvSpPr/>
          <p:nvPr/>
        </p:nvSpPr>
        <p:spPr>
          <a:xfrm>
            <a:off x="9429750" y="6296025"/>
            <a:ext cx="1409700" cy="628650"/>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write patch</a:t>
            </a:r>
            <a:endParaRPr lang="en-US" sz="1800" dirty="0"/>
          </a:p>
        </p:txBody>
      </p:sp>
      <p:sp>
        <p:nvSpPr>
          <p:cNvPr id="18" name="Shape 16"/>
          <p:cNvSpPr/>
          <p:nvPr/>
        </p:nvSpPr>
        <p:spPr>
          <a:xfrm>
            <a:off x="10896600" y="6400800"/>
            <a:ext cx="6477000" cy="381000"/>
          </a:xfrm>
          <a:prstGeom prst="rect">
            <a:avLst/>
          </a:prstGeom>
          <a:ln w="19050">
            <a:solidFill>
              <a:srgbClr val="1C1C1A"/>
            </a:solidFill>
            <a:prstDash val="solid"/>
          </a:ln>
        </p:spPr>
        <p:txBody>
          <a:bodyPr/>
          <a:lstStyle/>
          <a:p>
            <a:endParaRPr lang="en-US"/>
          </a:p>
        </p:txBody>
      </p:sp>
      <p:sp>
        <p:nvSpPr>
          <p:cNvPr id="19" name="Shape 17"/>
          <p:cNvSpPr/>
          <p:nvPr/>
        </p:nvSpPr>
        <p:spPr>
          <a:xfrm>
            <a:off x="10915650" y="6419850"/>
            <a:ext cx="1738461" cy="342900"/>
          </a:xfrm>
          <a:prstGeom prst="rect">
            <a:avLst/>
          </a:prstGeom>
          <a:solidFill>
            <a:srgbClr val="3B5BA8">
              <a:alpha val="22000"/>
            </a:srgbClr>
          </a:solidFill>
          <a:ln/>
        </p:spPr>
        <p:txBody>
          <a:bodyPr/>
          <a:lstStyle/>
          <a:p>
            <a:endParaRPr lang="en-US"/>
          </a:p>
        </p:txBody>
      </p:sp>
      <p:sp>
        <p:nvSpPr>
          <p:cNvPr id="20" name="Text 18"/>
          <p:cNvSpPr/>
          <p:nvPr/>
        </p:nvSpPr>
        <p:spPr>
          <a:xfrm>
            <a:off x="9429750" y="7115175"/>
            <a:ext cx="8182165" cy="678061"/>
          </a:xfrm>
          <a:prstGeom prst="rect">
            <a:avLst/>
          </a:prstGeom>
          <a:noFill/>
          <a:ln/>
        </p:spPr>
        <p:txBody>
          <a:bodyPr wrap="square" lIns="25400" tIns="25400" rIns="25400" bIns="25400" rtlCol="0" anchor="t">
            <a:normAutofit/>
          </a:bodyPr>
          <a:lstStyle/>
          <a:p>
            <a:r>
              <a:rPr lang="en-US" dirty="0"/>
              <a:t>Detailed subtask work stays in worker contexts. The parent receives concise results, slowing its context growth. </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The dependency graph connects work to its evidence</a:t>
            </a:r>
            <a:endParaRPr lang="en-US" sz="4500" dirty="0"/>
          </a:p>
        </p:txBody>
      </p:sp>
      <p:sp>
        <p:nvSpPr>
          <p:cNvPr id="4" name="Text 2"/>
          <p:cNvSpPr/>
          <p:nvPr/>
        </p:nvSpPr>
        <p:spPr>
          <a:xfrm>
            <a:off x="914400" y="2661196"/>
            <a:ext cx="1810512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Nodes are agents in the delegation network — a root agent and the workers it spawns.</a:t>
            </a:r>
            <a:endParaRPr lang="en-US" sz="1800" dirty="0"/>
          </a:p>
        </p:txBody>
      </p:sp>
      <p:sp>
        <p:nvSpPr>
          <p:cNvPr id="5" name="Shape 3"/>
          <p:cNvSpPr/>
          <p:nvPr/>
        </p:nvSpPr>
        <p:spPr>
          <a:xfrm>
            <a:off x="914400" y="3299371"/>
            <a:ext cx="16459200" cy="19050"/>
          </a:xfrm>
          <a:prstGeom prst="rect">
            <a:avLst/>
          </a:prstGeom>
          <a:solidFill>
            <a:srgbClr val="C9C6BC"/>
          </a:solidFill>
          <a:ln/>
        </p:spPr>
        <p:txBody>
          <a:bodyPr/>
          <a:lstStyle/>
          <a:p>
            <a:endParaRPr lang="en-US"/>
          </a:p>
        </p:txBody>
      </p:sp>
      <p:sp>
        <p:nvSpPr>
          <p:cNvPr id="6" name="Shape 4"/>
          <p:cNvSpPr/>
          <p:nvPr/>
        </p:nvSpPr>
        <p:spPr>
          <a:xfrm>
            <a:off x="2579489" y="5045348"/>
            <a:ext cx="5257800" cy="600075"/>
          </a:xfrm>
          <a:prstGeom prst="rect">
            <a:avLst/>
          </a:prstGeom>
          <a:ln w="19050">
            <a:solidFill>
              <a:srgbClr val="1C1C1A"/>
            </a:solidFill>
            <a:prstDash val="solid"/>
          </a:ln>
        </p:spPr>
        <p:txBody>
          <a:bodyPr/>
          <a:lstStyle/>
          <a:p>
            <a:endParaRPr lang="en-US"/>
          </a:p>
        </p:txBody>
      </p:sp>
      <p:sp>
        <p:nvSpPr>
          <p:cNvPr id="7" name="Text 5"/>
          <p:cNvSpPr/>
          <p:nvPr/>
        </p:nvSpPr>
        <p:spPr>
          <a:xfrm>
            <a:off x="2808089" y="5197748"/>
            <a:ext cx="4958334"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Root agent: "diagnose this failure"</a:t>
            </a:r>
            <a:endParaRPr lang="en-US" sz="1800" dirty="0"/>
          </a:p>
        </p:txBody>
      </p:sp>
      <p:sp>
        <p:nvSpPr>
          <p:cNvPr id="8" name="Shape 6"/>
          <p:cNvSpPr/>
          <p:nvPr/>
        </p:nvSpPr>
        <p:spPr>
          <a:xfrm>
            <a:off x="2731889" y="5702573"/>
            <a:ext cx="19050" cy="381000"/>
          </a:xfrm>
          <a:prstGeom prst="rect">
            <a:avLst/>
          </a:prstGeom>
          <a:solidFill>
            <a:srgbClr val="1C1C1A"/>
          </a:solidFill>
          <a:ln/>
        </p:spPr>
        <p:txBody>
          <a:bodyPr/>
          <a:lstStyle/>
          <a:p>
            <a:endParaRPr lang="en-US"/>
          </a:p>
        </p:txBody>
      </p:sp>
      <p:sp>
        <p:nvSpPr>
          <p:cNvPr id="9" name="Shape 7"/>
          <p:cNvSpPr/>
          <p:nvPr/>
        </p:nvSpPr>
        <p:spPr>
          <a:xfrm>
            <a:off x="7646789" y="5702573"/>
            <a:ext cx="19050" cy="381000"/>
          </a:xfrm>
          <a:prstGeom prst="rect">
            <a:avLst/>
          </a:prstGeom>
          <a:solidFill>
            <a:srgbClr val="1C1C1A"/>
          </a:solidFill>
          <a:ln/>
        </p:spPr>
        <p:txBody>
          <a:bodyPr/>
          <a:lstStyle/>
          <a:p>
            <a:endParaRPr lang="en-US"/>
          </a:p>
        </p:txBody>
      </p:sp>
      <p:sp>
        <p:nvSpPr>
          <p:cNvPr id="10" name="Text 8"/>
          <p:cNvSpPr/>
          <p:nvPr/>
        </p:nvSpPr>
        <p:spPr>
          <a:xfrm>
            <a:off x="2731889" y="6026423"/>
            <a:ext cx="1660193"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delegates ▾</a:t>
            </a:r>
            <a:endParaRPr lang="en-US" sz="1800" dirty="0"/>
          </a:p>
        </p:txBody>
      </p:sp>
      <p:sp>
        <p:nvSpPr>
          <p:cNvPr id="11" name="Text 9"/>
          <p:cNvSpPr/>
          <p:nvPr/>
        </p:nvSpPr>
        <p:spPr>
          <a:xfrm>
            <a:off x="6175623" y="6026423"/>
            <a:ext cx="1660193"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delegates ▾</a:t>
            </a:r>
            <a:endParaRPr lang="en-US" sz="1800" dirty="0"/>
          </a:p>
        </p:txBody>
      </p:sp>
      <p:sp>
        <p:nvSpPr>
          <p:cNvPr id="12" name="Shape 10"/>
          <p:cNvSpPr/>
          <p:nvPr/>
        </p:nvSpPr>
        <p:spPr>
          <a:xfrm>
            <a:off x="1202308" y="6435998"/>
            <a:ext cx="2712765" cy="561975"/>
          </a:xfrm>
          <a:prstGeom prst="rect">
            <a:avLst/>
          </a:prstGeom>
          <a:ln w="19050">
            <a:solidFill>
              <a:srgbClr val="1C1C1A"/>
            </a:solidFill>
            <a:prstDash val="solid"/>
          </a:ln>
        </p:spPr>
        <p:txBody>
          <a:bodyPr/>
          <a:lstStyle/>
          <a:p>
            <a:endParaRPr lang="en-US"/>
          </a:p>
        </p:txBody>
      </p:sp>
      <p:sp>
        <p:nvSpPr>
          <p:cNvPr id="13" name="Text 11"/>
          <p:cNvSpPr/>
          <p:nvPr/>
        </p:nvSpPr>
        <p:spPr>
          <a:xfrm>
            <a:off x="1392808" y="6569348"/>
            <a:ext cx="2413148"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Agent: locate bug</a:t>
            </a:r>
            <a:endParaRPr lang="en-US" sz="1800" dirty="0"/>
          </a:p>
        </p:txBody>
      </p:sp>
      <p:sp>
        <p:nvSpPr>
          <p:cNvPr id="14" name="Shape 12"/>
          <p:cNvSpPr/>
          <p:nvPr/>
        </p:nvSpPr>
        <p:spPr>
          <a:xfrm>
            <a:off x="2539678" y="7074173"/>
            <a:ext cx="19050" cy="247650"/>
          </a:xfrm>
          <a:prstGeom prst="rect">
            <a:avLst/>
          </a:prstGeom>
          <a:solidFill>
            <a:srgbClr val="1C1C1A"/>
          </a:solidFill>
          <a:ln/>
        </p:spPr>
        <p:txBody>
          <a:bodyPr/>
          <a:lstStyle/>
          <a:p>
            <a:endParaRPr lang="en-US"/>
          </a:p>
        </p:txBody>
      </p:sp>
      <p:sp>
        <p:nvSpPr>
          <p:cNvPr id="15" name="Shape 13"/>
          <p:cNvSpPr/>
          <p:nvPr/>
        </p:nvSpPr>
        <p:spPr>
          <a:xfrm>
            <a:off x="914400" y="7398023"/>
            <a:ext cx="3288655" cy="781050"/>
          </a:xfrm>
          <a:prstGeom prst="rect">
            <a:avLst/>
          </a:prstGeom>
          <a:ln w="19050">
            <a:solidFill>
              <a:srgbClr val="3D5AA8"/>
            </a:solidFill>
            <a:prstDash val="solid"/>
          </a:ln>
        </p:spPr>
        <p:txBody>
          <a:bodyPr/>
          <a:lstStyle/>
          <a:p>
            <a:endParaRPr lang="en-US"/>
          </a:p>
        </p:txBody>
      </p:sp>
      <p:sp>
        <p:nvSpPr>
          <p:cNvPr id="16" name="Text 14"/>
          <p:cNvSpPr/>
          <p:nvPr/>
        </p:nvSpPr>
        <p:spPr>
          <a:xfrm>
            <a:off x="1066800" y="7493273"/>
            <a:ext cx="3082515" cy="628650"/>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evidence: test_log.txt</a:t>
            </a:r>
            <a:endParaRPr lang="en-US" sz="1800" dirty="0"/>
          </a:p>
        </p:txBody>
      </p:sp>
      <p:sp>
        <p:nvSpPr>
          <p:cNvPr id="17" name="Text 15"/>
          <p:cNvSpPr/>
          <p:nvPr/>
        </p:nvSpPr>
        <p:spPr>
          <a:xfrm>
            <a:off x="4393555" y="7002735"/>
            <a:ext cx="1977479" cy="628650"/>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diagnosis.md →</a:t>
            </a:r>
            <a:endParaRPr lang="en-US" sz="1800" dirty="0"/>
          </a:p>
        </p:txBody>
      </p:sp>
      <p:sp>
        <p:nvSpPr>
          <p:cNvPr id="18" name="Shape 16"/>
          <p:cNvSpPr/>
          <p:nvPr/>
        </p:nvSpPr>
        <p:spPr>
          <a:xfrm>
            <a:off x="5010820" y="7593285"/>
            <a:ext cx="666750" cy="19050"/>
          </a:xfrm>
          <a:prstGeom prst="rect">
            <a:avLst/>
          </a:prstGeom>
          <a:solidFill>
            <a:srgbClr val="1C1C1A"/>
          </a:solidFill>
          <a:ln/>
        </p:spPr>
        <p:txBody>
          <a:bodyPr/>
          <a:lstStyle/>
          <a:p>
            <a:endParaRPr lang="en-US"/>
          </a:p>
        </p:txBody>
      </p:sp>
      <p:sp>
        <p:nvSpPr>
          <p:cNvPr id="19" name="Shape 17"/>
          <p:cNvSpPr/>
          <p:nvPr/>
        </p:nvSpPr>
        <p:spPr>
          <a:xfrm>
            <a:off x="6568901" y="6435998"/>
            <a:ext cx="2849910" cy="561975"/>
          </a:xfrm>
          <a:prstGeom prst="rect">
            <a:avLst/>
          </a:prstGeom>
          <a:ln w="19050">
            <a:solidFill>
              <a:srgbClr val="1C1C1A"/>
            </a:solidFill>
            <a:prstDash val="solid"/>
          </a:ln>
        </p:spPr>
        <p:txBody>
          <a:bodyPr/>
          <a:lstStyle/>
          <a:p>
            <a:endParaRPr lang="en-US"/>
          </a:p>
        </p:txBody>
      </p:sp>
      <p:sp>
        <p:nvSpPr>
          <p:cNvPr id="20" name="Text 18"/>
          <p:cNvSpPr/>
          <p:nvPr/>
        </p:nvSpPr>
        <p:spPr>
          <a:xfrm>
            <a:off x="6759401" y="6569348"/>
            <a:ext cx="2554407"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Agent: write patch</a:t>
            </a:r>
            <a:endParaRPr lang="en-US" sz="1800" dirty="0"/>
          </a:p>
        </p:txBody>
      </p:sp>
      <p:sp>
        <p:nvSpPr>
          <p:cNvPr id="21" name="Shape 19"/>
          <p:cNvSpPr/>
          <p:nvPr/>
        </p:nvSpPr>
        <p:spPr>
          <a:xfrm>
            <a:off x="7974806" y="7074173"/>
            <a:ext cx="19050" cy="247650"/>
          </a:xfrm>
          <a:prstGeom prst="rect">
            <a:avLst/>
          </a:prstGeom>
          <a:solidFill>
            <a:srgbClr val="1C1C1A"/>
          </a:solidFill>
          <a:ln/>
        </p:spPr>
        <p:txBody>
          <a:bodyPr/>
          <a:lstStyle/>
          <a:p>
            <a:endParaRPr lang="en-US"/>
          </a:p>
        </p:txBody>
      </p:sp>
      <p:sp>
        <p:nvSpPr>
          <p:cNvPr id="22" name="Shape 20"/>
          <p:cNvSpPr/>
          <p:nvPr/>
        </p:nvSpPr>
        <p:spPr>
          <a:xfrm>
            <a:off x="6485334" y="7398023"/>
            <a:ext cx="3017044" cy="781050"/>
          </a:xfrm>
          <a:prstGeom prst="rect">
            <a:avLst/>
          </a:prstGeom>
          <a:ln w="19050">
            <a:solidFill>
              <a:srgbClr val="3D5AA8"/>
            </a:solidFill>
            <a:prstDash val="solid"/>
          </a:ln>
        </p:spPr>
        <p:txBody>
          <a:bodyPr/>
          <a:lstStyle/>
          <a:p>
            <a:endParaRPr lang="en-US"/>
          </a:p>
        </p:txBody>
      </p:sp>
      <p:sp>
        <p:nvSpPr>
          <p:cNvPr id="23" name="Text 21"/>
          <p:cNvSpPr/>
          <p:nvPr/>
        </p:nvSpPr>
        <p:spPr>
          <a:xfrm>
            <a:off x="6637734" y="7493273"/>
            <a:ext cx="2802755" cy="628650"/>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evidence: patch.diff</a:t>
            </a:r>
            <a:endParaRPr lang="en-US" sz="1800" dirty="0"/>
          </a:p>
        </p:txBody>
      </p:sp>
      <p:sp>
        <p:nvSpPr>
          <p:cNvPr id="24" name="Text 22"/>
          <p:cNvSpPr/>
          <p:nvPr/>
        </p:nvSpPr>
        <p:spPr>
          <a:xfrm>
            <a:off x="10073878" y="5125417"/>
            <a:ext cx="7518714" cy="811411"/>
          </a:xfrm>
          <a:prstGeom prst="rect">
            <a:avLst/>
          </a:prstGeom>
          <a:noFill/>
          <a:ln/>
        </p:spPr>
        <p:txBody>
          <a:bodyPr wrap="square" lIns="25400" tIns="25400" rIns="25400" bIns="25400" rtlCol="0" anchor="t">
            <a:normAutofit lnSpcReduction="10000"/>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Follow dependencies to retrieve supporting evidence or identify results that need review after an input changes.</a:t>
            </a:r>
            <a:endParaRPr lang="en-US" sz="2175" dirty="0"/>
          </a:p>
        </p:txBody>
      </p:sp>
      <p:sp>
        <p:nvSpPr>
          <p:cNvPr id="25" name="Text 23"/>
          <p:cNvSpPr/>
          <p:nvPr/>
        </p:nvSpPr>
        <p:spPr>
          <a:xfrm>
            <a:off x="10073878" y="6222578"/>
            <a:ext cx="7518714" cy="1066800"/>
          </a:xfrm>
          <a:prstGeom prst="rect">
            <a:avLst/>
          </a:prstGeom>
          <a:noFill/>
          <a:ln/>
        </p:spPr>
        <p:txBody>
          <a:bodyPr wrap="square" lIns="25400" tIns="25400" rIns="25400" bIns="25400" rtlCol="0" anchor="t">
            <a:normAutofit/>
          </a:bodyPr>
          <a:lstStyle/>
          <a:p>
            <a:pPr marL="0" indent="0" algn="l">
              <a:lnSpc>
                <a:spcPct val="116129"/>
              </a:lnSpc>
              <a:buNone/>
            </a:pPr>
            <a:r>
              <a:rPr lang="en-US" sz="1800" dirty="0">
                <a:solidFill>
                  <a:srgbClr val="767468"/>
                </a:solidFill>
                <a:latin typeface="IBM Plex Mono" pitchFamily="34" charset="0"/>
                <a:ea typeface="IBM Plex Mono" pitchFamily="34" charset="-122"/>
                <a:cs typeface="IBM Plex Mono" pitchFamily="34" charset="-120"/>
              </a:rPr>
              <a:t>The graph stays outside the root prompt. Its edges come from runtime records; they do not prove which input caused the model's reasoning.</a:t>
            </a:r>
            <a:endParaRPr lang="en-US" sz="1800" dirty="0"/>
          </a:p>
        </p:txBody>
      </p:sp>
      <p:sp>
        <p:nvSpPr>
          <p:cNvPr id="26" name="Shape 24"/>
          <p:cNvSpPr/>
          <p:nvPr/>
        </p:nvSpPr>
        <p:spPr>
          <a:xfrm>
            <a:off x="10073878" y="7932316"/>
            <a:ext cx="266700" cy="19050"/>
          </a:xfrm>
          <a:prstGeom prst="rect">
            <a:avLst/>
          </a:prstGeom>
          <a:solidFill>
            <a:srgbClr val="1C1C1A"/>
          </a:solidFill>
          <a:ln/>
        </p:spPr>
        <p:txBody>
          <a:bodyPr/>
          <a:lstStyle/>
          <a:p>
            <a:endParaRPr lang="en-US"/>
          </a:p>
        </p:txBody>
      </p:sp>
      <p:sp>
        <p:nvSpPr>
          <p:cNvPr id="27" name="Text 25"/>
          <p:cNvSpPr/>
          <p:nvPr/>
        </p:nvSpPr>
        <p:spPr>
          <a:xfrm>
            <a:off x="10416778" y="7803728"/>
            <a:ext cx="1447800" cy="333375"/>
          </a:xfrm>
          <a:prstGeom prst="rect">
            <a:avLst/>
          </a:prstGeom>
          <a:noFill/>
          <a:ln/>
        </p:spPr>
        <p:txBody>
          <a:bodyPr wrap="square" lIns="0" tIns="0" rIns="0" bIns="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delegation</a:t>
            </a:r>
            <a:endParaRPr lang="en-US" sz="1800" dirty="0"/>
          </a:p>
        </p:txBody>
      </p:sp>
      <p:sp>
        <p:nvSpPr>
          <p:cNvPr id="28" name="Shape 26"/>
          <p:cNvSpPr/>
          <p:nvPr/>
        </p:nvSpPr>
        <p:spPr>
          <a:xfrm>
            <a:off x="12016978" y="7941841"/>
            <a:ext cx="266700" cy="19050"/>
          </a:xfrm>
          <a:prstGeom prst="rect">
            <a:avLst/>
          </a:prstGeom>
          <a:solidFill>
            <a:srgbClr val="1C1C1A"/>
          </a:solidFill>
          <a:ln/>
        </p:spPr>
        <p:txBody>
          <a:bodyPr/>
          <a:lstStyle/>
          <a:p>
            <a:endParaRPr lang="en-US"/>
          </a:p>
        </p:txBody>
      </p:sp>
      <p:sp>
        <p:nvSpPr>
          <p:cNvPr id="29" name="Text 27"/>
          <p:cNvSpPr/>
          <p:nvPr/>
        </p:nvSpPr>
        <p:spPr>
          <a:xfrm>
            <a:off x="12359878" y="7803728"/>
            <a:ext cx="1996455" cy="333375"/>
          </a:xfrm>
          <a:prstGeom prst="rect">
            <a:avLst/>
          </a:prstGeom>
          <a:noFill/>
          <a:ln/>
        </p:spPr>
        <p:txBody>
          <a:bodyPr wrap="square" lIns="0" tIns="0" rIns="0" bIns="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input / output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The shared database holds the history</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676086" y="3733616"/>
            <a:ext cx="8182165" cy="811411"/>
          </a:xfrm>
          <a:prstGeom prst="rect">
            <a:avLst/>
          </a:prstGeom>
          <a:noFill/>
          <a:ln/>
        </p:spPr>
        <p:txBody>
          <a:bodyPr wrap="square" lIns="25400" tIns="25400" rIns="25400" bIns="25400" rtlCol="0" anchor="t">
            <a:noAutofit/>
          </a:bodyPr>
          <a:lstStyle/>
          <a:p>
            <a:pPr marL="0" indent="0" algn="l">
              <a:lnSpc>
                <a:spcPct val="121194"/>
              </a:lnSpc>
              <a:buNone/>
            </a:pPr>
            <a:r>
              <a:rPr lang="en-US" sz="2180" dirty="0">
                <a:solidFill>
                  <a:srgbClr val="1C1C1A"/>
                </a:solidFill>
                <a:latin typeface="Arial" pitchFamily="34" charset="0"/>
                <a:ea typeface="Arial" pitchFamily="34" charset="-122"/>
                <a:cs typeface="Arial" pitchFamily="34" charset="-120"/>
              </a:rPr>
              <a:t>A lightweight database stores tasks, workers, observations, results, versions, and dependencies.</a:t>
            </a:r>
            <a:endParaRPr lang="en-US" sz="2180" dirty="0"/>
          </a:p>
        </p:txBody>
      </p:sp>
      <p:sp>
        <p:nvSpPr>
          <p:cNvPr id="6" name="Text 4"/>
          <p:cNvSpPr/>
          <p:nvPr/>
        </p:nvSpPr>
        <p:spPr>
          <a:xfrm>
            <a:off x="622682" y="5013053"/>
            <a:ext cx="8738235" cy="439043"/>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Agent Workers can delegate recursively when useful.</a:t>
            </a:r>
            <a:endParaRPr lang="en-US" sz="2175" dirty="0"/>
          </a:p>
        </p:txBody>
      </p:sp>
      <p:sp>
        <p:nvSpPr>
          <p:cNvPr id="7" name="Text 5"/>
          <p:cNvSpPr/>
          <p:nvPr/>
        </p:nvSpPr>
        <p:spPr>
          <a:xfrm>
            <a:off x="622681" y="5727429"/>
            <a:ext cx="8738235"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Agent Workers publish structured results and evidence references.</a:t>
            </a:r>
            <a:endParaRPr lang="en-US" sz="2175" dirty="0"/>
          </a:p>
        </p:txBody>
      </p:sp>
      <p:sp>
        <p:nvSpPr>
          <p:cNvPr id="8" name="Text 6"/>
          <p:cNvSpPr/>
          <p:nvPr/>
        </p:nvSpPr>
        <p:spPr>
          <a:xfrm>
            <a:off x="652652" y="6520829"/>
            <a:ext cx="8182165" cy="811411"/>
          </a:xfrm>
          <a:prstGeom prst="rect">
            <a:avLst/>
          </a:prstGeom>
          <a:noFill/>
          <a:ln/>
        </p:spPr>
        <p:txBody>
          <a:bodyPr wrap="square" lIns="25400" tIns="25400" rIns="25400" bIns="25400" rtlCol="0" anchor="t">
            <a:normAutofit lnSpcReduction="10000"/>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Information can be retrieved directly from storage; invoking an LLM is needed when further reasoning is required.</a:t>
            </a:r>
            <a:endParaRPr lang="en-US" sz="2175" dirty="0"/>
          </a:p>
        </p:txBody>
      </p:sp>
      <p:sp>
        <p:nvSpPr>
          <p:cNvPr id="9" name="Shape 7"/>
          <p:cNvSpPr/>
          <p:nvPr/>
        </p:nvSpPr>
        <p:spPr>
          <a:xfrm>
            <a:off x="9429750" y="4526235"/>
            <a:ext cx="1282378" cy="895350"/>
          </a:xfrm>
          <a:prstGeom prst="rect">
            <a:avLst/>
          </a:prstGeom>
          <a:ln w="19050">
            <a:solidFill>
              <a:srgbClr val="1C1C1A"/>
            </a:solidFill>
            <a:prstDash val="solid"/>
          </a:ln>
        </p:spPr>
        <p:txBody>
          <a:bodyPr/>
          <a:lstStyle/>
          <a:p>
            <a:endParaRPr lang="en-US"/>
          </a:p>
        </p:txBody>
      </p:sp>
      <p:sp>
        <p:nvSpPr>
          <p:cNvPr id="10" name="Text 8"/>
          <p:cNvSpPr/>
          <p:nvPr/>
        </p:nvSpPr>
        <p:spPr>
          <a:xfrm>
            <a:off x="9582150" y="4678635"/>
            <a:ext cx="977578" cy="628650"/>
          </a:xfrm>
          <a:prstGeom prst="rect">
            <a:avLst/>
          </a:prstGeom>
          <a:noFill/>
          <a:ln/>
        </p:spPr>
        <p:txBody>
          <a:bodyPr wrap="square" lIns="25400" tIns="25400" rIns="25400" bIns="25400" rtlCol="0" anchor="t">
            <a:normAutofit/>
          </a:bodyPr>
          <a:lstStyle/>
          <a:p>
            <a:pPr marL="0" indent="0" algn="ctr">
              <a:buNone/>
            </a:pPr>
            <a:r>
              <a:rPr lang="en-US" sz="1800" dirty="0">
                <a:solidFill>
                  <a:srgbClr val="1C1C1A"/>
                </a:solidFill>
                <a:latin typeface="IBM Plex Mono" pitchFamily="34" charset="0"/>
                <a:ea typeface="IBM Plex Mono" pitchFamily="34" charset="-122"/>
                <a:cs typeface="IBM Plex Mono" pitchFamily="34" charset="-120"/>
              </a:rPr>
              <a:t>Worker A</a:t>
            </a:r>
            <a:endParaRPr lang="en-US" sz="1800" dirty="0"/>
          </a:p>
        </p:txBody>
      </p:sp>
      <p:sp>
        <p:nvSpPr>
          <p:cNvPr id="11" name="Text 9"/>
          <p:cNvSpPr/>
          <p:nvPr/>
        </p:nvSpPr>
        <p:spPr>
          <a:xfrm>
            <a:off x="10864528" y="4826273"/>
            <a:ext cx="213866"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a:t>
            </a:r>
            <a:endParaRPr lang="en-US" sz="1800" dirty="0"/>
          </a:p>
        </p:txBody>
      </p:sp>
      <p:sp>
        <p:nvSpPr>
          <p:cNvPr id="12" name="Shape 10"/>
          <p:cNvSpPr/>
          <p:nvPr/>
        </p:nvSpPr>
        <p:spPr>
          <a:xfrm>
            <a:off x="11154594" y="4054748"/>
            <a:ext cx="4494163" cy="1838325"/>
          </a:xfrm>
          <a:prstGeom prst="rect">
            <a:avLst/>
          </a:prstGeom>
          <a:ln w="28575">
            <a:solidFill>
              <a:srgbClr val="3D5AA8"/>
            </a:solidFill>
            <a:prstDash val="solid"/>
          </a:ln>
        </p:spPr>
        <p:txBody>
          <a:bodyPr/>
          <a:lstStyle/>
          <a:p>
            <a:endParaRPr lang="en-US"/>
          </a:p>
        </p:txBody>
      </p:sp>
      <p:sp>
        <p:nvSpPr>
          <p:cNvPr id="13" name="Text 11"/>
          <p:cNvSpPr/>
          <p:nvPr/>
        </p:nvSpPr>
        <p:spPr>
          <a:xfrm>
            <a:off x="11306256" y="4235723"/>
            <a:ext cx="4190838" cy="1514475"/>
          </a:xfrm>
          <a:prstGeom prst="rect">
            <a:avLst/>
          </a:prstGeom>
          <a:noFill/>
          <a:ln/>
        </p:spPr>
        <p:txBody>
          <a:bodyPr wrap="square" lIns="25400" tIns="25400" rIns="25400" bIns="25400" rtlCol="0" anchor="t">
            <a:normAutofit/>
          </a:bodyPr>
          <a:lstStyle/>
          <a:p>
            <a:pPr marL="0" indent="0" algn="ctr">
              <a:buNone/>
            </a:pPr>
            <a:r>
              <a:rPr lang="en-US" sz="1800" dirty="0">
                <a:solidFill>
                  <a:srgbClr val="1C1C1A"/>
                </a:solidFill>
                <a:latin typeface="IBM Plex Mono" pitchFamily="34" charset="0"/>
                <a:ea typeface="IBM Plex Mono" pitchFamily="34" charset="-122"/>
                <a:cs typeface="IBM Plex Mono" pitchFamily="34" charset="-120"/>
              </a:rPr>
              <a:t>DATABASE </a:t>
            </a:r>
            <a:r>
              <a:rPr lang="en-US" sz="1800" dirty="0">
                <a:solidFill>
                  <a:srgbClr val="767468"/>
                </a:solidFill>
                <a:latin typeface="IBM Plex Mono" pitchFamily="34" charset="0"/>
                <a:ea typeface="IBM Plex Mono" pitchFamily="34" charset="-122"/>
                <a:cs typeface="IBM Plex Mono" pitchFamily="34" charset="-120"/>
              </a:rPr>
              <a:t>tasks · workers · observations results · versions · deps · hash ids</a:t>
            </a:r>
            <a:endParaRPr lang="en-US" sz="1800" dirty="0"/>
          </a:p>
        </p:txBody>
      </p:sp>
      <p:sp>
        <p:nvSpPr>
          <p:cNvPr id="14" name="Text 12"/>
          <p:cNvSpPr/>
          <p:nvPr/>
        </p:nvSpPr>
        <p:spPr>
          <a:xfrm>
            <a:off x="15801156" y="4826273"/>
            <a:ext cx="213866"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a:t>
            </a:r>
            <a:endParaRPr lang="en-US" sz="1800" dirty="0"/>
          </a:p>
        </p:txBody>
      </p:sp>
      <p:sp>
        <p:nvSpPr>
          <p:cNvPr id="15" name="Shape 13"/>
          <p:cNvSpPr/>
          <p:nvPr/>
        </p:nvSpPr>
        <p:spPr>
          <a:xfrm>
            <a:off x="16091222" y="4526235"/>
            <a:ext cx="1282378" cy="895350"/>
          </a:xfrm>
          <a:prstGeom prst="rect">
            <a:avLst/>
          </a:prstGeom>
          <a:ln w="19050">
            <a:solidFill>
              <a:srgbClr val="1C1C1A"/>
            </a:solidFill>
            <a:prstDash val="solid"/>
          </a:ln>
        </p:spPr>
        <p:txBody>
          <a:bodyPr/>
          <a:lstStyle/>
          <a:p>
            <a:endParaRPr lang="en-US"/>
          </a:p>
        </p:txBody>
      </p:sp>
      <p:sp>
        <p:nvSpPr>
          <p:cNvPr id="16" name="Text 14"/>
          <p:cNvSpPr/>
          <p:nvPr/>
        </p:nvSpPr>
        <p:spPr>
          <a:xfrm>
            <a:off x="16243622" y="4678635"/>
            <a:ext cx="977578" cy="628650"/>
          </a:xfrm>
          <a:prstGeom prst="rect">
            <a:avLst/>
          </a:prstGeom>
          <a:noFill/>
          <a:ln/>
        </p:spPr>
        <p:txBody>
          <a:bodyPr wrap="square" lIns="25400" tIns="25400" rIns="25400" bIns="25400" rtlCol="0" anchor="t">
            <a:normAutofit/>
          </a:bodyPr>
          <a:lstStyle/>
          <a:p>
            <a:pPr marL="0" indent="0" algn="ctr">
              <a:buNone/>
            </a:pPr>
            <a:r>
              <a:rPr lang="en-US" sz="1800" dirty="0">
                <a:solidFill>
                  <a:srgbClr val="1C1C1A"/>
                </a:solidFill>
                <a:latin typeface="IBM Plex Mono" pitchFamily="34" charset="0"/>
                <a:ea typeface="IBM Plex Mono" pitchFamily="34" charset="-122"/>
                <a:cs typeface="IBM Plex Mono" pitchFamily="34" charset="-120"/>
              </a:rPr>
              <a:t>Worker B</a:t>
            </a:r>
            <a:endParaRPr lang="en-US" sz="1800" dirty="0"/>
          </a:p>
        </p:txBody>
      </p:sp>
      <p:sp>
        <p:nvSpPr>
          <p:cNvPr id="17" name="Text 15"/>
          <p:cNvSpPr/>
          <p:nvPr/>
        </p:nvSpPr>
        <p:spPr>
          <a:xfrm>
            <a:off x="9032558" y="6121673"/>
            <a:ext cx="8738235" cy="333375"/>
          </a:xfrm>
          <a:prstGeom prst="rect">
            <a:avLst/>
          </a:prstGeom>
          <a:noFill/>
          <a:ln/>
        </p:spPr>
        <p:txBody>
          <a:bodyPr wrap="square" lIns="25400" tIns="25400" rIns="25400" bIns="25400" rtlCol="0" anchor="t">
            <a:normAutofit/>
          </a:bodyPr>
          <a:lstStyle/>
          <a:p>
            <a:pPr marL="0" indent="0" algn="ctr">
              <a:buNone/>
            </a:pPr>
            <a:r>
              <a:rPr lang="en-US" sz="1800" dirty="0">
                <a:solidFill>
                  <a:srgbClr val="767468"/>
                </a:solidFill>
                <a:latin typeface="IBM Plex Mono" pitchFamily="34" charset="0"/>
                <a:ea typeface="IBM Plex Mono" pitchFamily="34" charset="-122"/>
                <a:cs typeface="IBM Plex Mono" pitchFamily="34" charset="-120"/>
              </a:rPr>
              <a:t>Worker B ┄delegates┄▾</a:t>
            </a:r>
            <a:endParaRPr lang="en-US" sz="1800" dirty="0"/>
          </a:p>
        </p:txBody>
      </p:sp>
      <p:sp>
        <p:nvSpPr>
          <p:cNvPr id="18" name="Shape 16"/>
          <p:cNvSpPr/>
          <p:nvPr/>
        </p:nvSpPr>
        <p:spPr>
          <a:xfrm>
            <a:off x="12319620" y="6645548"/>
            <a:ext cx="2164110" cy="561975"/>
          </a:xfrm>
          <a:prstGeom prst="rect">
            <a:avLst/>
          </a:prstGeom>
          <a:ln w="19050">
            <a:solidFill>
              <a:srgbClr val="1C1C1A"/>
            </a:solidFill>
            <a:prstDash val="dash"/>
          </a:ln>
        </p:spPr>
        <p:txBody>
          <a:bodyPr/>
          <a:lstStyle/>
          <a:p>
            <a:endParaRPr lang="en-US"/>
          </a:p>
        </p:txBody>
      </p:sp>
      <p:sp>
        <p:nvSpPr>
          <p:cNvPr id="19" name="Text 17"/>
          <p:cNvSpPr/>
          <p:nvPr/>
        </p:nvSpPr>
        <p:spPr>
          <a:xfrm>
            <a:off x="12510120" y="6778898"/>
            <a:ext cx="185931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Sub-worker B1</a:t>
            </a:r>
            <a:endParaRPr lang="en-US" sz="1800" dirty="0"/>
          </a:p>
        </p:txBody>
      </p:sp>
      <p:sp>
        <p:nvSpPr>
          <p:cNvPr id="20" name="Shape 18"/>
          <p:cNvSpPr/>
          <p:nvPr/>
        </p:nvSpPr>
        <p:spPr>
          <a:xfrm>
            <a:off x="9429750" y="7512323"/>
            <a:ext cx="7943850" cy="1266825"/>
          </a:xfrm>
          <a:prstGeom prst="rect">
            <a:avLst/>
          </a:prstGeom>
          <a:solidFill>
            <a:srgbClr val="FFFFFF"/>
          </a:solidFill>
          <a:ln w="19050">
            <a:solidFill>
              <a:srgbClr val="1C1C1A"/>
            </a:solidFill>
            <a:prstDash val="solid"/>
          </a:ln>
        </p:spPr>
        <p:txBody>
          <a:bodyPr/>
          <a:lstStyle/>
          <a:p>
            <a:endParaRPr lang="en-US"/>
          </a:p>
        </p:txBody>
      </p:sp>
      <p:sp>
        <p:nvSpPr>
          <p:cNvPr id="21" name="Text 19"/>
          <p:cNvSpPr/>
          <p:nvPr/>
        </p:nvSpPr>
        <p:spPr>
          <a:xfrm>
            <a:off x="9639300" y="7702823"/>
            <a:ext cx="7763065" cy="92392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 return to root </a:t>
            </a:r>
            <a:r>
              <a:rPr lang="en-US" sz="1800" dirty="0">
                <a:solidFill>
                  <a:srgbClr val="1C1C1A"/>
                </a:solidFill>
                <a:highlight>
                  <a:srgbClr val="FFFFFF"/>
                </a:highlight>
                <a:latin typeface="IBM Plex Mono" pitchFamily="34" charset="0"/>
                <a:ea typeface="IBM Plex Mono" pitchFamily="34" charset="-122"/>
                <a:cs typeface="IBM Plex Mono" pitchFamily="34" charset="-120"/>
              </a:rPr>
              <a:t>"Diagnosis available; revision 8; evidence_id: 8f21e0; patch still required."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555221" y="1310839"/>
            <a:ext cx="18105120" cy="678135"/>
          </a:xfrm>
          <a:prstGeom prst="rect">
            <a:avLst/>
          </a:prstGeom>
          <a:noFill/>
          <a:ln/>
        </p:spPr>
        <p:txBody>
          <a:bodyPr wrap="square" lIns="25400" tIns="25400" rIns="25400" bIns="25400" rtlCol="0" anchor="t">
            <a:normAutofit fontScale="77500" lnSpcReduction="20000"/>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The cost model : To be designed – Borrow from Abacus/ </a:t>
            </a:r>
            <a:r>
              <a:rPr lang="en-US" sz="4500" b="1" dirty="0" err="1">
                <a:solidFill>
                  <a:srgbClr val="1C1C1A"/>
                </a:solidFill>
                <a:latin typeface="IBM Plex Mono" pitchFamily="34" charset="0"/>
                <a:ea typeface="IBM Plex Mono" pitchFamily="34" charset="-122"/>
                <a:cs typeface="IBM Plex Mono" pitchFamily="34" charset="-120"/>
              </a:rPr>
              <a:t>Palimpzest</a:t>
            </a:r>
            <a:r>
              <a:rPr lang="en-US" sz="4500" b="1" dirty="0">
                <a:solidFill>
                  <a:srgbClr val="1C1C1A"/>
                </a:solidFill>
                <a:latin typeface="IBM Plex Mono" pitchFamily="34" charset="0"/>
                <a:ea typeface="IBM Plex Mono" pitchFamily="34" charset="-122"/>
                <a:cs typeface="IBM Plex Mono" pitchFamily="34" charset="-120"/>
              </a:rPr>
              <a:t>?</a:t>
            </a:r>
            <a:endParaRPr lang="en-US" sz="4500" dirty="0"/>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Text 3"/>
          <p:cNvSpPr/>
          <p:nvPr/>
        </p:nvSpPr>
        <p:spPr>
          <a:xfrm>
            <a:off x="887730" y="2906763"/>
            <a:ext cx="18105120"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Count ready input tokens exactly.</a:t>
            </a:r>
            <a:endParaRPr lang="en-US" sz="2175" dirty="0"/>
          </a:p>
        </p:txBody>
      </p:sp>
      <p:sp>
        <p:nvSpPr>
          <p:cNvPr id="6" name="Text 4"/>
          <p:cNvSpPr/>
          <p:nvPr/>
        </p:nvSpPr>
        <p:spPr>
          <a:xfrm>
            <a:off x="887730" y="3738043"/>
            <a:ext cx="18105120"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Predict output length, future use, cache availability, and timing.</a:t>
            </a:r>
            <a:endParaRPr lang="en-US" sz="2175" dirty="0"/>
          </a:p>
        </p:txBody>
      </p:sp>
      <p:sp>
        <p:nvSpPr>
          <p:cNvPr id="7" name="Text 5"/>
          <p:cNvSpPr/>
          <p:nvPr/>
        </p:nvSpPr>
        <p:spPr>
          <a:xfrm>
            <a:off x="887730" y="4453903"/>
            <a:ext cx="18105120"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Include retrieval, preparation, model calls, retries, and integration.</a:t>
            </a:r>
            <a:endParaRPr lang="en-US" sz="2175" dirty="0"/>
          </a:p>
        </p:txBody>
      </p:sp>
      <p:sp>
        <p:nvSpPr>
          <p:cNvPr id="8" name="Text 6"/>
          <p:cNvSpPr/>
          <p:nvPr/>
        </p:nvSpPr>
        <p:spPr>
          <a:xfrm>
            <a:off x="887730" y="5285183"/>
            <a:ext cx="18105120"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Compare resource use at matched task quality, or quality under matched budgets.</a:t>
            </a:r>
            <a:endParaRPr lang="en-US" sz="2175" dirty="0"/>
          </a:p>
        </p:txBody>
      </p:sp>
      <p:sp>
        <p:nvSpPr>
          <p:cNvPr id="9" name="Shape 7"/>
          <p:cNvSpPr/>
          <p:nvPr/>
        </p:nvSpPr>
        <p:spPr>
          <a:xfrm>
            <a:off x="914400" y="9125917"/>
            <a:ext cx="38100" cy="437183"/>
          </a:xfrm>
          <a:prstGeom prst="rect">
            <a:avLst/>
          </a:prstGeom>
          <a:solidFill>
            <a:srgbClr val="3D5AA8"/>
          </a:solidFill>
          <a:ln/>
        </p:spPr>
        <p:txBody>
          <a:bodyPr/>
          <a:lstStyle/>
          <a:p>
            <a:endParaRPr lang="en-US"/>
          </a:p>
        </p:txBody>
      </p:sp>
      <p:sp>
        <p:nvSpPr>
          <p:cNvPr id="10" name="Text 8"/>
          <p:cNvSpPr/>
          <p:nvPr/>
        </p:nvSpPr>
        <p:spPr>
          <a:xfrm>
            <a:off x="1181100" y="9125917"/>
            <a:ext cx="17811750" cy="475283"/>
          </a:xfrm>
          <a:prstGeom prst="rect">
            <a:avLst/>
          </a:prstGeom>
          <a:noFill/>
          <a:ln/>
        </p:spPr>
        <p:txBody>
          <a:bodyPr wrap="square" lIns="25400" tIns="25400" rIns="25400" bIns="25400" rtlCol="0" anchor="t">
            <a:normAutofit lnSpcReduction="10000"/>
          </a:bodyPr>
          <a:lstStyle/>
          <a:p>
            <a:pPr marL="0" indent="0" algn="l">
              <a:lnSpc>
                <a:spcPct val="117692"/>
              </a:lnSpc>
              <a:buNone/>
            </a:pP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3735050"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The planner chooses how to perform the next operation</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914400" y="3270796"/>
            <a:ext cx="18105120"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C1A"/>
                </a:solidFill>
                <a:latin typeface="Arial" pitchFamily="34" charset="0"/>
                <a:ea typeface="Arial" pitchFamily="34" charset="-122"/>
                <a:cs typeface="Arial" pitchFamily="34" charset="-120"/>
              </a:rPr>
              <a:t>For "diagnose this failure," compare:</a:t>
            </a:r>
            <a:endParaRPr lang="en-US" sz="2550" dirty="0"/>
          </a:p>
        </p:txBody>
      </p:sp>
      <p:sp>
        <p:nvSpPr>
          <p:cNvPr id="6" name="Shape 4"/>
          <p:cNvSpPr/>
          <p:nvPr/>
        </p:nvSpPr>
        <p:spPr>
          <a:xfrm>
            <a:off x="914400" y="3918496"/>
            <a:ext cx="3139380" cy="4427339"/>
          </a:xfrm>
          <a:prstGeom prst="rect">
            <a:avLst/>
          </a:prstGeom>
          <a:ln w="19050">
            <a:solidFill>
              <a:srgbClr val="1C1C1A"/>
            </a:solidFill>
            <a:prstDash val="solid"/>
          </a:ln>
        </p:spPr>
        <p:txBody>
          <a:bodyPr/>
          <a:lstStyle/>
          <a:p>
            <a:endParaRPr lang="en-US"/>
          </a:p>
        </p:txBody>
      </p:sp>
      <p:sp>
        <p:nvSpPr>
          <p:cNvPr id="7" name="Text 5"/>
          <p:cNvSpPr/>
          <p:nvPr/>
        </p:nvSpPr>
        <p:spPr>
          <a:xfrm>
            <a:off x="1143000" y="4147096"/>
            <a:ext cx="2950399"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01</a:t>
            </a:r>
            <a:endParaRPr lang="en-US" sz="1800" dirty="0"/>
          </a:p>
        </p:txBody>
      </p:sp>
      <p:sp>
        <p:nvSpPr>
          <p:cNvPr id="8" name="Text 6"/>
          <p:cNvSpPr/>
          <p:nvPr/>
        </p:nvSpPr>
        <p:spPr>
          <a:xfrm>
            <a:off x="1143000" y="4537621"/>
            <a:ext cx="2762646" cy="655290"/>
          </a:xfrm>
          <a:prstGeom prst="rect">
            <a:avLst/>
          </a:prstGeom>
          <a:noFill/>
          <a:ln/>
        </p:spPr>
        <p:txBody>
          <a:bodyPr wrap="square" lIns="25400" tIns="25400" rIns="25400" bIns="25400" rtlCol="0" anchor="t">
            <a:normAutofit lnSpcReduction="10000"/>
          </a:bodyPr>
          <a:lstStyle/>
          <a:p>
            <a:pPr marL="0" indent="0" algn="l">
              <a:lnSpc>
                <a:spcPct val="117818"/>
              </a:lnSpc>
              <a:buNone/>
            </a:pPr>
            <a:r>
              <a:rPr lang="en-US" sz="1800" dirty="0">
                <a:solidFill>
                  <a:srgbClr val="1C1C1A"/>
                </a:solidFill>
                <a:latin typeface="Arial" pitchFamily="34" charset="0"/>
                <a:ea typeface="Arial" pitchFamily="34" charset="-122"/>
                <a:cs typeface="Arial" pitchFamily="34" charset="-120"/>
              </a:rPr>
              <a:t>Read an existing applicable result.</a:t>
            </a:r>
            <a:endParaRPr lang="en-US" sz="1800" dirty="0"/>
          </a:p>
        </p:txBody>
      </p:sp>
      <p:sp>
        <p:nvSpPr>
          <p:cNvPr id="9" name="Shape 7"/>
          <p:cNvSpPr/>
          <p:nvPr/>
        </p:nvSpPr>
        <p:spPr>
          <a:xfrm>
            <a:off x="4244280" y="3918496"/>
            <a:ext cx="3139455" cy="4427339"/>
          </a:xfrm>
          <a:prstGeom prst="rect">
            <a:avLst/>
          </a:prstGeom>
          <a:ln w="19050">
            <a:solidFill>
              <a:srgbClr val="1C1C1A"/>
            </a:solidFill>
            <a:prstDash val="solid"/>
          </a:ln>
        </p:spPr>
        <p:txBody>
          <a:bodyPr/>
          <a:lstStyle/>
          <a:p>
            <a:endParaRPr lang="en-US"/>
          </a:p>
        </p:txBody>
      </p:sp>
      <p:sp>
        <p:nvSpPr>
          <p:cNvPr id="10" name="Text 8"/>
          <p:cNvSpPr/>
          <p:nvPr/>
        </p:nvSpPr>
        <p:spPr>
          <a:xfrm>
            <a:off x="4472880" y="4147096"/>
            <a:ext cx="295048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02</a:t>
            </a:r>
            <a:endParaRPr lang="en-US" sz="1800" dirty="0"/>
          </a:p>
        </p:txBody>
      </p:sp>
      <p:sp>
        <p:nvSpPr>
          <p:cNvPr id="11" name="Text 9"/>
          <p:cNvSpPr/>
          <p:nvPr/>
        </p:nvSpPr>
        <p:spPr>
          <a:xfrm>
            <a:off x="4472880" y="4537621"/>
            <a:ext cx="2762723" cy="655290"/>
          </a:xfrm>
          <a:prstGeom prst="rect">
            <a:avLst/>
          </a:prstGeom>
          <a:noFill/>
          <a:ln/>
        </p:spPr>
        <p:txBody>
          <a:bodyPr wrap="square" lIns="25400" tIns="25400" rIns="25400" bIns="25400" rtlCol="0" anchor="t">
            <a:normAutofit lnSpcReduction="10000"/>
          </a:bodyPr>
          <a:lstStyle/>
          <a:p>
            <a:pPr marL="0" indent="0" algn="l">
              <a:lnSpc>
                <a:spcPct val="117818"/>
              </a:lnSpc>
              <a:buNone/>
            </a:pPr>
            <a:r>
              <a:rPr lang="en-US" sz="1800" dirty="0">
                <a:solidFill>
                  <a:srgbClr val="1C1C1A"/>
                </a:solidFill>
                <a:latin typeface="Arial" pitchFamily="34" charset="0"/>
                <a:ea typeface="Arial" pitchFamily="34" charset="-122"/>
                <a:cs typeface="Arial" pitchFamily="34" charset="-120"/>
              </a:rPr>
              <a:t>Continue the current worker.</a:t>
            </a:r>
            <a:endParaRPr lang="en-US" sz="1800" dirty="0"/>
          </a:p>
        </p:txBody>
      </p:sp>
      <p:sp>
        <p:nvSpPr>
          <p:cNvPr id="12" name="Shape 10"/>
          <p:cNvSpPr/>
          <p:nvPr/>
        </p:nvSpPr>
        <p:spPr>
          <a:xfrm>
            <a:off x="7574235" y="3918496"/>
            <a:ext cx="3139455" cy="4427339"/>
          </a:xfrm>
          <a:prstGeom prst="rect">
            <a:avLst/>
          </a:prstGeom>
          <a:ln w="19050">
            <a:solidFill>
              <a:srgbClr val="1C1C1A"/>
            </a:solidFill>
            <a:prstDash val="solid"/>
          </a:ln>
        </p:spPr>
        <p:txBody>
          <a:bodyPr/>
          <a:lstStyle/>
          <a:p>
            <a:endParaRPr lang="en-US"/>
          </a:p>
        </p:txBody>
      </p:sp>
      <p:sp>
        <p:nvSpPr>
          <p:cNvPr id="13" name="Text 11"/>
          <p:cNvSpPr/>
          <p:nvPr/>
        </p:nvSpPr>
        <p:spPr>
          <a:xfrm>
            <a:off x="7802835" y="4147096"/>
            <a:ext cx="295048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03</a:t>
            </a:r>
            <a:endParaRPr lang="en-US" sz="1800" dirty="0"/>
          </a:p>
        </p:txBody>
      </p:sp>
      <p:sp>
        <p:nvSpPr>
          <p:cNvPr id="14" name="Text 12"/>
          <p:cNvSpPr/>
          <p:nvPr/>
        </p:nvSpPr>
        <p:spPr>
          <a:xfrm>
            <a:off x="7802835" y="4537621"/>
            <a:ext cx="2950480" cy="346695"/>
          </a:xfrm>
          <a:prstGeom prst="rect">
            <a:avLst/>
          </a:prstGeom>
          <a:noFill/>
          <a:ln/>
        </p:spPr>
        <p:txBody>
          <a:bodyPr wrap="square" lIns="25400" tIns="25400" rIns="25400" bIns="25400" rtlCol="0" anchor="t">
            <a:normAutofit lnSpcReduction="10000"/>
          </a:bodyPr>
          <a:lstStyle/>
          <a:p>
            <a:pPr marL="0" indent="0" algn="l">
              <a:lnSpc>
                <a:spcPct val="117818"/>
              </a:lnSpc>
              <a:buNone/>
            </a:pPr>
            <a:r>
              <a:rPr lang="en-US" sz="1800" dirty="0">
                <a:solidFill>
                  <a:srgbClr val="1C1C1A"/>
                </a:solidFill>
                <a:latin typeface="Arial" pitchFamily="34" charset="0"/>
                <a:ea typeface="Arial" pitchFamily="34" charset="-122"/>
                <a:cs typeface="Arial" pitchFamily="34" charset="-120"/>
              </a:rPr>
              <a:t>Resume a relevant worker.</a:t>
            </a:r>
            <a:endParaRPr lang="en-US" sz="1800" dirty="0"/>
          </a:p>
        </p:txBody>
      </p:sp>
      <p:sp>
        <p:nvSpPr>
          <p:cNvPr id="15" name="Shape 13"/>
          <p:cNvSpPr/>
          <p:nvPr/>
        </p:nvSpPr>
        <p:spPr>
          <a:xfrm>
            <a:off x="10904190" y="3918496"/>
            <a:ext cx="3139455" cy="4427339"/>
          </a:xfrm>
          <a:prstGeom prst="rect">
            <a:avLst/>
          </a:prstGeom>
          <a:ln w="19050">
            <a:solidFill>
              <a:srgbClr val="1C1C1A"/>
            </a:solidFill>
            <a:prstDash val="solid"/>
          </a:ln>
        </p:spPr>
        <p:txBody>
          <a:bodyPr/>
          <a:lstStyle/>
          <a:p>
            <a:endParaRPr lang="en-US"/>
          </a:p>
        </p:txBody>
      </p:sp>
      <p:sp>
        <p:nvSpPr>
          <p:cNvPr id="16" name="Text 14"/>
          <p:cNvSpPr/>
          <p:nvPr/>
        </p:nvSpPr>
        <p:spPr>
          <a:xfrm>
            <a:off x="11132790" y="4147096"/>
            <a:ext cx="295048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04</a:t>
            </a:r>
            <a:endParaRPr lang="en-US" sz="1800" dirty="0"/>
          </a:p>
        </p:txBody>
      </p:sp>
      <p:sp>
        <p:nvSpPr>
          <p:cNvPr id="17" name="Text 15"/>
          <p:cNvSpPr/>
          <p:nvPr/>
        </p:nvSpPr>
        <p:spPr>
          <a:xfrm>
            <a:off x="11132790" y="4537621"/>
            <a:ext cx="2762723" cy="655290"/>
          </a:xfrm>
          <a:prstGeom prst="rect">
            <a:avLst/>
          </a:prstGeom>
          <a:noFill/>
          <a:ln/>
        </p:spPr>
        <p:txBody>
          <a:bodyPr wrap="square" lIns="25400" tIns="25400" rIns="25400" bIns="25400" rtlCol="0" anchor="t">
            <a:normAutofit lnSpcReduction="10000"/>
          </a:bodyPr>
          <a:lstStyle/>
          <a:p>
            <a:pPr marL="0" indent="0" algn="l">
              <a:lnSpc>
                <a:spcPct val="117818"/>
              </a:lnSpc>
              <a:buNone/>
            </a:pPr>
            <a:r>
              <a:rPr lang="en-US" sz="1800" dirty="0">
                <a:solidFill>
                  <a:srgbClr val="1C1C1A"/>
                </a:solidFill>
                <a:latin typeface="Arial" pitchFamily="34" charset="0"/>
                <a:ea typeface="Arial" pitchFamily="34" charset="-122"/>
                <a:cs typeface="Arial" pitchFamily="34" charset="-120"/>
              </a:rPr>
              <a:t>Create a worker with selected evidence.</a:t>
            </a:r>
            <a:endParaRPr lang="en-US" sz="1800" dirty="0"/>
          </a:p>
        </p:txBody>
      </p:sp>
      <p:sp>
        <p:nvSpPr>
          <p:cNvPr id="18" name="Shape 16"/>
          <p:cNvSpPr/>
          <p:nvPr/>
        </p:nvSpPr>
        <p:spPr>
          <a:xfrm>
            <a:off x="14234145" y="3918496"/>
            <a:ext cx="3139455" cy="4427339"/>
          </a:xfrm>
          <a:prstGeom prst="rect">
            <a:avLst/>
          </a:prstGeom>
          <a:solidFill>
            <a:srgbClr val="4059A6">
              <a:alpha val="8000"/>
            </a:srgbClr>
          </a:solidFill>
          <a:ln w="28575">
            <a:solidFill>
              <a:srgbClr val="3D5AA8"/>
            </a:solidFill>
            <a:prstDash val="solid"/>
          </a:ln>
        </p:spPr>
        <p:txBody>
          <a:bodyPr/>
          <a:lstStyle/>
          <a:p>
            <a:endParaRPr lang="en-US"/>
          </a:p>
        </p:txBody>
      </p:sp>
      <p:sp>
        <p:nvSpPr>
          <p:cNvPr id="19" name="Text 17"/>
          <p:cNvSpPr/>
          <p:nvPr/>
        </p:nvSpPr>
        <p:spPr>
          <a:xfrm>
            <a:off x="14472270" y="4156621"/>
            <a:ext cx="292952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05</a:t>
            </a:r>
            <a:endParaRPr lang="en-US" sz="1800" dirty="0"/>
          </a:p>
        </p:txBody>
      </p:sp>
      <p:sp>
        <p:nvSpPr>
          <p:cNvPr id="20" name="Text 18"/>
          <p:cNvSpPr/>
          <p:nvPr/>
        </p:nvSpPr>
        <p:spPr>
          <a:xfrm>
            <a:off x="14472270" y="4547146"/>
            <a:ext cx="2743101" cy="655290"/>
          </a:xfrm>
          <a:prstGeom prst="rect">
            <a:avLst/>
          </a:prstGeom>
          <a:noFill/>
          <a:ln/>
        </p:spPr>
        <p:txBody>
          <a:bodyPr wrap="square" lIns="25400" tIns="25400" rIns="25400" bIns="25400" rtlCol="0" anchor="t">
            <a:normAutofit lnSpcReduction="10000"/>
          </a:bodyPr>
          <a:lstStyle/>
          <a:p>
            <a:pPr marL="0" indent="0" algn="l">
              <a:lnSpc>
                <a:spcPct val="117818"/>
              </a:lnSpc>
              <a:buNone/>
            </a:pPr>
            <a:r>
              <a:rPr lang="en-US" sz="1800" dirty="0">
                <a:solidFill>
                  <a:srgbClr val="1C1C1A"/>
                </a:solidFill>
                <a:latin typeface="Arial" pitchFamily="34" charset="0"/>
                <a:ea typeface="Arial" pitchFamily="34" charset="-122"/>
                <a:cs typeface="Arial" pitchFamily="34" charset="-120"/>
              </a:rPr>
              <a:t>Rebuild a bounded context when necessary.</a:t>
            </a:r>
            <a:endParaRPr lang="en-US" sz="1800" dirty="0"/>
          </a:p>
        </p:txBody>
      </p:sp>
      <p:sp>
        <p:nvSpPr>
          <p:cNvPr id="21" name="Shape 19"/>
          <p:cNvSpPr/>
          <p:nvPr/>
        </p:nvSpPr>
        <p:spPr>
          <a:xfrm>
            <a:off x="914400" y="8688735"/>
            <a:ext cx="38100" cy="874365"/>
          </a:xfrm>
          <a:prstGeom prst="rect">
            <a:avLst/>
          </a:prstGeom>
          <a:solidFill>
            <a:srgbClr val="3D5AA8"/>
          </a:solidFill>
          <a:ln/>
        </p:spPr>
        <p:txBody>
          <a:bodyPr/>
          <a:lstStyle/>
          <a:p>
            <a:endParaRPr lang="en-US"/>
          </a:p>
        </p:txBody>
      </p:sp>
      <p:sp>
        <p:nvSpPr>
          <p:cNvPr id="22" name="Text 20"/>
          <p:cNvSpPr/>
          <p:nvPr/>
        </p:nvSpPr>
        <p:spPr>
          <a:xfrm>
            <a:off x="1181100" y="8688735"/>
            <a:ext cx="16678275" cy="912465"/>
          </a:xfrm>
          <a:prstGeom prst="rect">
            <a:avLst/>
          </a:prstGeom>
          <a:noFill/>
          <a:ln/>
        </p:spPr>
        <p:txBody>
          <a:bodyPr wrap="square" lIns="25400" tIns="25400" rIns="25400" bIns="25400" rtlCol="0" anchor="t">
            <a:normAutofit lnSpcReduction="10000"/>
          </a:bodyPr>
          <a:lstStyle/>
          <a:p>
            <a:pPr marL="0" indent="0" algn="l">
              <a:lnSpc>
                <a:spcPct val="117692"/>
              </a:lnSpc>
              <a:buNone/>
            </a:pPr>
            <a:r>
              <a:rPr lang="en-US" sz="2550" dirty="0">
                <a:solidFill>
                  <a:srgbClr val="1C1C1A"/>
                </a:solidFill>
                <a:latin typeface="Arial" pitchFamily="34" charset="0"/>
                <a:ea typeface="Arial" pitchFamily="34" charset="-122"/>
                <a:cs typeface="Arial" pitchFamily="34" charset="-120"/>
              </a:rPr>
              <a:t>The planner considers evidence validity, context size, predicted work, reuse opportunities, and resource budgets. Only the selected plan executes.</a:t>
            </a:r>
            <a:endParaRPr lang="en-US" sz="2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8105120" cy="678135"/>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Learning predicts demand and improves decisions</a:t>
            </a:r>
            <a:endParaRPr lang="en-US" sz="4500" dirty="0"/>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Shape 3"/>
          <p:cNvSpPr/>
          <p:nvPr/>
        </p:nvSpPr>
        <p:spPr>
          <a:xfrm>
            <a:off x="914400" y="3164160"/>
            <a:ext cx="3429000" cy="28575"/>
          </a:xfrm>
          <a:prstGeom prst="rect">
            <a:avLst/>
          </a:prstGeom>
          <a:solidFill>
            <a:srgbClr val="1C1C1A"/>
          </a:solidFill>
          <a:ln/>
        </p:spPr>
        <p:txBody>
          <a:bodyPr/>
          <a:lstStyle/>
          <a:p>
            <a:endParaRPr lang="en-US"/>
          </a:p>
        </p:txBody>
      </p:sp>
      <p:sp>
        <p:nvSpPr>
          <p:cNvPr id="6" name="Text 4"/>
          <p:cNvSpPr/>
          <p:nvPr/>
        </p:nvSpPr>
        <p:spPr>
          <a:xfrm>
            <a:off x="1104900" y="2687910"/>
            <a:ext cx="3150870" cy="381000"/>
          </a:xfrm>
          <a:prstGeom prst="rect">
            <a:avLst/>
          </a:prstGeom>
          <a:noFill/>
          <a:ln/>
        </p:spPr>
        <p:txBody>
          <a:bodyPr wrap="square" lIns="25400" tIns="25400" rIns="25400" bIns="25400" rtlCol="0" anchor="ctr">
            <a:normAutofit lnSpcReduction="10000"/>
          </a:bodyPr>
          <a:lstStyle/>
          <a:p>
            <a:pPr marL="0" indent="0" algn="l">
              <a:buNone/>
            </a:pPr>
            <a:r>
              <a:rPr lang="en-US" sz="2175" b="1" dirty="0">
                <a:solidFill>
                  <a:srgbClr val="1C1C1A"/>
                </a:solidFill>
                <a:latin typeface="IBM Plex Mono" pitchFamily="34" charset="0"/>
                <a:ea typeface="IBM Plex Mono" pitchFamily="34" charset="-122"/>
                <a:cs typeface="IBM Plex Mono" pitchFamily="34" charset="-120"/>
              </a:rPr>
              <a:t>Learned component</a:t>
            </a:r>
            <a:endParaRPr lang="en-US" sz="2175" dirty="0"/>
          </a:p>
        </p:txBody>
      </p:sp>
      <p:sp>
        <p:nvSpPr>
          <p:cNvPr id="7" name="Shape 5"/>
          <p:cNvSpPr/>
          <p:nvPr/>
        </p:nvSpPr>
        <p:spPr>
          <a:xfrm>
            <a:off x="4343400" y="3164160"/>
            <a:ext cx="13030200" cy="28575"/>
          </a:xfrm>
          <a:prstGeom prst="rect">
            <a:avLst/>
          </a:prstGeom>
          <a:solidFill>
            <a:srgbClr val="1C1C1A"/>
          </a:solidFill>
          <a:ln/>
        </p:spPr>
        <p:txBody>
          <a:bodyPr/>
          <a:lstStyle/>
          <a:p>
            <a:endParaRPr lang="en-US"/>
          </a:p>
        </p:txBody>
      </p:sp>
      <p:sp>
        <p:nvSpPr>
          <p:cNvPr id="8" name="Text 6"/>
          <p:cNvSpPr/>
          <p:nvPr/>
        </p:nvSpPr>
        <p:spPr>
          <a:xfrm>
            <a:off x="4533900" y="2687910"/>
            <a:ext cx="13040106" cy="381000"/>
          </a:xfrm>
          <a:prstGeom prst="rect">
            <a:avLst/>
          </a:prstGeom>
          <a:noFill/>
          <a:ln/>
        </p:spPr>
        <p:txBody>
          <a:bodyPr wrap="square" lIns="25400" tIns="25400" rIns="25400" bIns="25400" rtlCol="0" anchor="ctr">
            <a:normAutofit lnSpcReduction="10000"/>
          </a:bodyPr>
          <a:lstStyle/>
          <a:p>
            <a:pPr marL="0" indent="0" algn="l">
              <a:buNone/>
            </a:pPr>
            <a:r>
              <a:rPr lang="en-US" sz="2175" b="1" dirty="0">
                <a:solidFill>
                  <a:srgbClr val="1C1C1A"/>
                </a:solidFill>
                <a:latin typeface="IBM Plex Mono" pitchFamily="34" charset="0"/>
                <a:ea typeface="IBM Plex Mono" pitchFamily="34" charset="-122"/>
                <a:cs typeface="IBM Plex Mono" pitchFamily="34" charset="-120"/>
              </a:rPr>
              <a:t>Its job</a:t>
            </a:r>
            <a:endParaRPr lang="en-US" sz="2175" dirty="0"/>
          </a:p>
        </p:txBody>
      </p:sp>
      <p:sp>
        <p:nvSpPr>
          <p:cNvPr id="9" name="Shape 7"/>
          <p:cNvSpPr/>
          <p:nvPr/>
        </p:nvSpPr>
        <p:spPr>
          <a:xfrm>
            <a:off x="914400" y="3864248"/>
            <a:ext cx="3429000" cy="9525"/>
          </a:xfrm>
          <a:prstGeom prst="rect">
            <a:avLst/>
          </a:prstGeom>
          <a:solidFill>
            <a:srgbClr val="C9C6BC"/>
          </a:solidFill>
          <a:ln/>
        </p:spPr>
        <p:txBody>
          <a:bodyPr/>
          <a:lstStyle/>
          <a:p>
            <a:endParaRPr lang="en-US"/>
          </a:p>
        </p:txBody>
      </p:sp>
      <p:sp>
        <p:nvSpPr>
          <p:cNvPr id="10" name="Text 8"/>
          <p:cNvSpPr/>
          <p:nvPr/>
        </p:nvSpPr>
        <p:spPr>
          <a:xfrm>
            <a:off x="1104900" y="3345135"/>
            <a:ext cx="3150870" cy="404813"/>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Forecasting</a:t>
            </a:r>
            <a:endParaRPr lang="en-US" sz="2175" dirty="0"/>
          </a:p>
        </p:txBody>
      </p:sp>
      <p:sp>
        <p:nvSpPr>
          <p:cNvPr id="11" name="Shape 9"/>
          <p:cNvSpPr/>
          <p:nvPr/>
        </p:nvSpPr>
        <p:spPr>
          <a:xfrm>
            <a:off x="4343400" y="3864248"/>
            <a:ext cx="13030200" cy="9525"/>
          </a:xfrm>
          <a:prstGeom prst="rect">
            <a:avLst/>
          </a:prstGeom>
          <a:solidFill>
            <a:srgbClr val="C9C6BC"/>
          </a:solidFill>
          <a:ln/>
        </p:spPr>
        <p:txBody>
          <a:bodyPr/>
          <a:lstStyle/>
          <a:p>
            <a:endParaRPr lang="en-US"/>
          </a:p>
        </p:txBody>
      </p:sp>
      <p:sp>
        <p:nvSpPr>
          <p:cNvPr id="12" name="Text 10"/>
          <p:cNvSpPr/>
          <p:nvPr/>
        </p:nvSpPr>
        <p:spPr>
          <a:xfrm>
            <a:off x="4533900" y="3345135"/>
            <a:ext cx="13040106" cy="404813"/>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Predict output length, relevant future calls, evidence reuse, and view changes - with uncertainty.</a:t>
            </a:r>
            <a:endParaRPr lang="en-US" sz="2175" dirty="0"/>
          </a:p>
        </p:txBody>
      </p:sp>
      <p:sp>
        <p:nvSpPr>
          <p:cNvPr id="13" name="Shape 11"/>
          <p:cNvSpPr/>
          <p:nvPr/>
        </p:nvSpPr>
        <p:spPr>
          <a:xfrm>
            <a:off x="914400" y="4535760"/>
            <a:ext cx="3429000" cy="9525"/>
          </a:xfrm>
          <a:prstGeom prst="rect">
            <a:avLst/>
          </a:prstGeom>
          <a:solidFill>
            <a:srgbClr val="C9C6BC"/>
          </a:solidFill>
          <a:ln/>
        </p:spPr>
        <p:txBody>
          <a:bodyPr/>
          <a:lstStyle/>
          <a:p>
            <a:endParaRPr lang="en-US"/>
          </a:p>
        </p:txBody>
      </p:sp>
      <p:sp>
        <p:nvSpPr>
          <p:cNvPr id="14" name="Text 12"/>
          <p:cNvSpPr/>
          <p:nvPr/>
        </p:nvSpPr>
        <p:spPr>
          <a:xfrm>
            <a:off x="1104900" y="4026173"/>
            <a:ext cx="3150870" cy="395288"/>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Planner policy</a:t>
            </a:r>
            <a:endParaRPr lang="en-US" sz="2175" dirty="0"/>
          </a:p>
        </p:txBody>
      </p:sp>
      <p:sp>
        <p:nvSpPr>
          <p:cNvPr id="15" name="Shape 13"/>
          <p:cNvSpPr/>
          <p:nvPr/>
        </p:nvSpPr>
        <p:spPr>
          <a:xfrm>
            <a:off x="4343400" y="4535760"/>
            <a:ext cx="13030200" cy="9525"/>
          </a:xfrm>
          <a:prstGeom prst="rect">
            <a:avLst/>
          </a:prstGeom>
          <a:solidFill>
            <a:srgbClr val="C9C6BC"/>
          </a:solidFill>
          <a:ln/>
        </p:spPr>
        <p:txBody>
          <a:bodyPr/>
          <a:lstStyle/>
          <a:p>
            <a:endParaRPr lang="en-US"/>
          </a:p>
        </p:txBody>
      </p:sp>
      <p:sp>
        <p:nvSpPr>
          <p:cNvPr id="16" name="Text 14"/>
          <p:cNvSpPr/>
          <p:nvPr/>
        </p:nvSpPr>
        <p:spPr>
          <a:xfrm>
            <a:off x="4533900" y="4026173"/>
            <a:ext cx="13040106" cy="395288"/>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Learn when to retrieve, continue, resume, or delegate.</a:t>
            </a:r>
            <a:endParaRPr lang="en-US" sz="2175" dirty="0"/>
          </a:p>
        </p:txBody>
      </p:sp>
      <p:sp>
        <p:nvSpPr>
          <p:cNvPr id="17" name="Shape 15"/>
          <p:cNvSpPr/>
          <p:nvPr/>
        </p:nvSpPr>
        <p:spPr>
          <a:xfrm>
            <a:off x="914400" y="5564460"/>
            <a:ext cx="3429000" cy="9525"/>
          </a:xfrm>
          <a:prstGeom prst="rect">
            <a:avLst/>
          </a:prstGeom>
          <a:solidFill>
            <a:srgbClr val="C9C6BC"/>
          </a:solidFill>
          <a:ln/>
        </p:spPr>
        <p:txBody>
          <a:bodyPr/>
          <a:lstStyle/>
          <a:p>
            <a:endParaRPr lang="en-US"/>
          </a:p>
        </p:txBody>
      </p:sp>
      <p:sp>
        <p:nvSpPr>
          <p:cNvPr id="18" name="Text 16"/>
          <p:cNvSpPr/>
          <p:nvPr/>
        </p:nvSpPr>
        <p:spPr>
          <a:xfrm>
            <a:off x="1104900" y="4697685"/>
            <a:ext cx="3150870" cy="752475"/>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Evidence-selection policy</a:t>
            </a:r>
            <a:endParaRPr lang="en-US" sz="2175" dirty="0"/>
          </a:p>
        </p:txBody>
      </p:sp>
      <p:sp>
        <p:nvSpPr>
          <p:cNvPr id="19" name="Shape 17"/>
          <p:cNvSpPr/>
          <p:nvPr/>
        </p:nvSpPr>
        <p:spPr>
          <a:xfrm>
            <a:off x="4343400" y="5564460"/>
            <a:ext cx="13030200" cy="9525"/>
          </a:xfrm>
          <a:prstGeom prst="rect">
            <a:avLst/>
          </a:prstGeom>
          <a:solidFill>
            <a:srgbClr val="C9C6BC"/>
          </a:solidFill>
          <a:ln/>
        </p:spPr>
        <p:txBody>
          <a:bodyPr/>
          <a:lstStyle/>
          <a:p>
            <a:endParaRPr lang="en-US"/>
          </a:p>
        </p:txBody>
      </p:sp>
      <p:sp>
        <p:nvSpPr>
          <p:cNvPr id="20" name="Text 18"/>
          <p:cNvSpPr/>
          <p:nvPr/>
        </p:nvSpPr>
        <p:spPr>
          <a:xfrm>
            <a:off x="4533900" y="4697685"/>
            <a:ext cx="13040106" cy="752475"/>
          </a:xfrm>
          <a:prstGeom prst="rect">
            <a:avLst/>
          </a:prstGeom>
          <a:noFill/>
          <a:ln/>
        </p:spPr>
        <p:txBody>
          <a:bodyPr wrap="square" lIns="25400" tIns="25400" rIns="25400" bIns="25400" rtlCol="0" anchor="t">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Learn which optional evidence and permitted layout best support the next decision.</a:t>
            </a:r>
            <a:endParaRPr lang="en-US" sz="2175" dirty="0"/>
          </a:p>
        </p:txBody>
      </p:sp>
      <p:sp>
        <p:nvSpPr>
          <p:cNvPr id="21" name="Text 19"/>
          <p:cNvSpPr/>
          <p:nvPr/>
        </p:nvSpPr>
        <p:spPr>
          <a:xfrm>
            <a:off x="914400" y="5845448"/>
            <a:ext cx="18105120"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C1A"/>
                </a:solidFill>
                <a:latin typeface="Arial" pitchFamily="34" charset="0"/>
                <a:ea typeface="Arial" pitchFamily="34" charset="-122"/>
                <a:cs typeface="Arial" pitchFamily="34" charset="-120"/>
              </a:rPr>
              <a:t>Train using agent trajectories, we might need to synthetically create new agent trajectories </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4716125" cy="1318171"/>
          </a:xfrm>
          <a:prstGeom prst="rect">
            <a:avLst/>
          </a:prstGeom>
          <a:noFill/>
          <a:ln/>
        </p:spPr>
        <p:txBody>
          <a:bodyPr wrap="square" lIns="25400" tIns="25400" rIns="25400" bIns="25400" rtlCol="0" anchor="t">
            <a:normAutofit fontScale="92500"/>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The assembler turns selected evidence into the actual prompt : To be Explored &amp; Designed</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914400" y="3484662"/>
            <a:ext cx="8738235"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Receive selected evidence IDs, worker history, and layout decisions.</a:t>
            </a:r>
            <a:endParaRPr lang="en-US" sz="1950" dirty="0"/>
          </a:p>
        </p:txBody>
      </p:sp>
      <p:sp>
        <p:nvSpPr>
          <p:cNvPr id="6" name="Text 4"/>
          <p:cNvSpPr/>
          <p:nvPr/>
        </p:nvSpPr>
        <p:spPr>
          <a:xfrm>
            <a:off x="914399" y="4176415"/>
            <a:ext cx="8738235"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Render the exact messages and count their tokens.</a:t>
            </a:r>
            <a:endParaRPr lang="en-US" sz="1950" dirty="0"/>
          </a:p>
        </p:txBody>
      </p:sp>
      <p:sp>
        <p:nvSpPr>
          <p:cNvPr id="7" name="Text 5"/>
          <p:cNvSpPr/>
          <p:nvPr/>
        </p:nvSpPr>
        <p:spPr>
          <a:xfrm>
            <a:off x="914399" y="4807223"/>
            <a:ext cx="8738235"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Preserve compatible prefixes where the chosen context permits.</a:t>
            </a:r>
            <a:endParaRPr lang="en-US" sz="1950" dirty="0"/>
          </a:p>
        </p:txBody>
      </p:sp>
      <p:sp>
        <p:nvSpPr>
          <p:cNvPr id="8" name="Text 6"/>
          <p:cNvSpPr/>
          <p:nvPr/>
        </p:nvSpPr>
        <p:spPr>
          <a:xfrm>
            <a:off x="914399" y="5537434"/>
            <a:ext cx="8738235"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Enforce message structure, mandatory evidence, and window limits.</a:t>
            </a:r>
            <a:endParaRPr lang="en-US" sz="1950" dirty="0"/>
          </a:p>
        </p:txBody>
      </p:sp>
      <p:sp>
        <p:nvSpPr>
          <p:cNvPr id="9" name="Text 7"/>
          <p:cNvSpPr/>
          <p:nvPr/>
        </p:nvSpPr>
        <p:spPr>
          <a:xfrm>
            <a:off x="914400" y="6359839"/>
            <a:ext cx="8182165" cy="1066800"/>
          </a:xfrm>
          <a:prstGeom prst="rect">
            <a:avLst/>
          </a:prstGeom>
          <a:noFill/>
          <a:ln/>
        </p:spPr>
        <p:txBody>
          <a:bodyPr wrap="square" lIns="25400" tIns="25400" rIns="25400" bIns="25400" rtlCol="0" anchor="t">
            <a:normAutofit/>
          </a:bodyPr>
          <a:lstStyle/>
          <a:p>
            <a:pPr marL="0" indent="0" algn="l">
              <a:lnSpc>
                <a:spcPct val="116129"/>
              </a:lnSpc>
              <a:buNone/>
            </a:pPr>
            <a:r>
              <a:rPr lang="en-US" sz="1800" dirty="0">
                <a:solidFill>
                  <a:srgbClr val="767468"/>
                </a:solidFill>
                <a:latin typeface="IBM Plex Mono" pitchFamily="34" charset="0"/>
                <a:ea typeface="IBM Plex Mono" pitchFamily="34" charset="-122"/>
                <a:cs typeface="IBM Plex Mono" pitchFamily="34" charset="-120"/>
              </a:rPr>
              <a:t>The learned policy selects content and permitted placement; deterministic code performs the final rendering.</a:t>
            </a:r>
            <a:endParaRPr lang="en-US" sz="1800" dirty="0"/>
          </a:p>
        </p:txBody>
      </p:sp>
      <p:sp>
        <p:nvSpPr>
          <p:cNvPr id="10" name="Shape 8"/>
          <p:cNvSpPr/>
          <p:nvPr/>
        </p:nvSpPr>
        <p:spPr>
          <a:xfrm>
            <a:off x="9429750" y="4959623"/>
            <a:ext cx="7943850" cy="19050"/>
          </a:xfrm>
          <a:prstGeom prst="rect">
            <a:avLst/>
          </a:prstGeom>
          <a:solidFill>
            <a:srgbClr val="1C1C1A"/>
          </a:solidFill>
          <a:ln/>
        </p:spPr>
        <p:txBody>
          <a:bodyPr/>
          <a:lstStyle/>
          <a:p>
            <a:endParaRPr lang="en-US"/>
          </a:p>
        </p:txBody>
      </p:sp>
      <p:sp>
        <p:nvSpPr>
          <p:cNvPr id="11" name="Shape 9"/>
          <p:cNvSpPr/>
          <p:nvPr/>
        </p:nvSpPr>
        <p:spPr>
          <a:xfrm>
            <a:off x="9429750" y="4959623"/>
            <a:ext cx="19050" cy="657225"/>
          </a:xfrm>
          <a:prstGeom prst="rect">
            <a:avLst/>
          </a:prstGeom>
          <a:solidFill>
            <a:srgbClr val="1C1C1A"/>
          </a:solidFill>
          <a:ln/>
        </p:spPr>
        <p:txBody>
          <a:bodyPr/>
          <a:lstStyle/>
          <a:p>
            <a:endParaRPr lang="en-US"/>
          </a:p>
        </p:txBody>
      </p:sp>
      <p:sp>
        <p:nvSpPr>
          <p:cNvPr id="12" name="Shape 10"/>
          <p:cNvSpPr/>
          <p:nvPr/>
        </p:nvSpPr>
        <p:spPr>
          <a:xfrm>
            <a:off x="17354550" y="4959623"/>
            <a:ext cx="19050" cy="657225"/>
          </a:xfrm>
          <a:prstGeom prst="rect">
            <a:avLst/>
          </a:prstGeom>
          <a:solidFill>
            <a:srgbClr val="1C1C1A"/>
          </a:solidFill>
          <a:ln/>
        </p:spPr>
        <p:txBody>
          <a:bodyPr/>
          <a:lstStyle/>
          <a:p>
            <a:endParaRPr lang="en-US"/>
          </a:p>
        </p:txBody>
      </p:sp>
      <p:sp>
        <p:nvSpPr>
          <p:cNvPr id="13" name="Text 11"/>
          <p:cNvSpPr/>
          <p:nvPr/>
        </p:nvSpPr>
        <p:spPr>
          <a:xfrm>
            <a:off x="9658350" y="5150123"/>
            <a:ext cx="899220"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1C1C1A"/>
                </a:solidFill>
                <a:latin typeface="IBM Plex Mono" pitchFamily="34" charset="0"/>
                <a:ea typeface="IBM Plex Mono" pitchFamily="34" charset="-122"/>
                <a:cs typeface="IBM Plex Mono" pitchFamily="34" charset="-120"/>
              </a:rPr>
              <a:t>FROZEN</a:t>
            </a:r>
            <a:endParaRPr lang="en-US" sz="1800" dirty="0"/>
          </a:p>
        </p:txBody>
      </p:sp>
      <p:sp>
        <p:nvSpPr>
          <p:cNvPr id="14" name="Text 12"/>
          <p:cNvSpPr/>
          <p:nvPr/>
        </p:nvSpPr>
        <p:spPr>
          <a:xfrm>
            <a:off x="15996047" y="5164410"/>
            <a:ext cx="1225153"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767468"/>
                </a:solidFill>
                <a:latin typeface="Arial" pitchFamily="34" charset="0"/>
                <a:ea typeface="Arial" pitchFamily="34" charset="-122"/>
                <a:cs typeface="Arial" pitchFamily="34" charset="-120"/>
              </a:rPr>
              <a:t>instructions</a:t>
            </a:r>
            <a:endParaRPr lang="en-US" sz="1800" dirty="0"/>
          </a:p>
        </p:txBody>
      </p:sp>
      <p:sp>
        <p:nvSpPr>
          <p:cNvPr id="15" name="Shape 13"/>
          <p:cNvSpPr/>
          <p:nvPr/>
        </p:nvSpPr>
        <p:spPr>
          <a:xfrm>
            <a:off x="9429750" y="5616848"/>
            <a:ext cx="7943850" cy="657225"/>
          </a:xfrm>
          <a:prstGeom prst="rect">
            <a:avLst/>
          </a:prstGeom>
          <a:solidFill>
            <a:srgbClr val="3B62B1">
              <a:alpha val="5000"/>
            </a:srgbClr>
          </a:solidFill>
          <a:ln/>
        </p:spPr>
        <p:txBody>
          <a:bodyPr/>
          <a:lstStyle/>
          <a:p>
            <a:endParaRPr lang="en-US"/>
          </a:p>
        </p:txBody>
      </p:sp>
      <p:sp>
        <p:nvSpPr>
          <p:cNvPr id="16" name="Shape 14"/>
          <p:cNvSpPr/>
          <p:nvPr/>
        </p:nvSpPr>
        <p:spPr>
          <a:xfrm>
            <a:off x="9429750" y="5616848"/>
            <a:ext cx="7943850" cy="19050"/>
          </a:xfrm>
          <a:prstGeom prst="rect">
            <a:avLst/>
          </a:prstGeom>
          <a:solidFill>
            <a:srgbClr val="1C1C1A"/>
          </a:solidFill>
          <a:ln/>
        </p:spPr>
        <p:txBody>
          <a:bodyPr/>
          <a:lstStyle/>
          <a:p>
            <a:endParaRPr lang="en-US"/>
          </a:p>
        </p:txBody>
      </p:sp>
      <p:sp>
        <p:nvSpPr>
          <p:cNvPr id="17" name="Shape 15"/>
          <p:cNvSpPr/>
          <p:nvPr/>
        </p:nvSpPr>
        <p:spPr>
          <a:xfrm>
            <a:off x="9429750" y="5616848"/>
            <a:ext cx="19050" cy="657225"/>
          </a:xfrm>
          <a:prstGeom prst="rect">
            <a:avLst/>
          </a:prstGeom>
          <a:solidFill>
            <a:srgbClr val="1C1C1A"/>
          </a:solidFill>
          <a:ln/>
        </p:spPr>
        <p:txBody>
          <a:bodyPr/>
          <a:lstStyle/>
          <a:p>
            <a:endParaRPr lang="en-US"/>
          </a:p>
        </p:txBody>
      </p:sp>
      <p:sp>
        <p:nvSpPr>
          <p:cNvPr id="18" name="Shape 16"/>
          <p:cNvSpPr/>
          <p:nvPr/>
        </p:nvSpPr>
        <p:spPr>
          <a:xfrm>
            <a:off x="17354550" y="5616848"/>
            <a:ext cx="19050" cy="657225"/>
          </a:xfrm>
          <a:prstGeom prst="rect">
            <a:avLst/>
          </a:prstGeom>
          <a:solidFill>
            <a:srgbClr val="1C1C1A"/>
          </a:solidFill>
          <a:ln/>
        </p:spPr>
        <p:txBody>
          <a:bodyPr/>
          <a:lstStyle/>
          <a:p>
            <a:endParaRPr lang="en-US"/>
          </a:p>
        </p:txBody>
      </p:sp>
      <p:sp>
        <p:nvSpPr>
          <p:cNvPr id="19" name="Text 17"/>
          <p:cNvSpPr/>
          <p:nvPr/>
        </p:nvSpPr>
        <p:spPr>
          <a:xfrm>
            <a:off x="9658350" y="5807348"/>
            <a:ext cx="624855"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1C1C1A"/>
                </a:solidFill>
                <a:latin typeface="IBM Plex Mono" pitchFamily="34" charset="0"/>
                <a:ea typeface="IBM Plex Mono" pitchFamily="34" charset="-122"/>
                <a:cs typeface="IBM Plex Mono" pitchFamily="34" charset="-120"/>
              </a:rPr>
              <a:t>SLOW</a:t>
            </a:r>
            <a:endParaRPr lang="en-US" sz="1800" dirty="0"/>
          </a:p>
        </p:txBody>
      </p:sp>
      <p:sp>
        <p:nvSpPr>
          <p:cNvPr id="20" name="Text 18"/>
          <p:cNvSpPr/>
          <p:nvPr/>
        </p:nvSpPr>
        <p:spPr>
          <a:xfrm>
            <a:off x="16196593" y="5821635"/>
            <a:ext cx="1024607"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767468"/>
                </a:solidFill>
                <a:latin typeface="Arial" pitchFamily="34" charset="0"/>
                <a:ea typeface="Arial" pitchFamily="34" charset="-122"/>
                <a:cs typeface="Arial" pitchFamily="34" charset="-120"/>
              </a:rPr>
              <a:t>task state</a:t>
            </a:r>
            <a:endParaRPr lang="en-US" sz="1800" dirty="0"/>
          </a:p>
        </p:txBody>
      </p:sp>
      <p:sp>
        <p:nvSpPr>
          <p:cNvPr id="21" name="Shape 19"/>
          <p:cNvSpPr/>
          <p:nvPr/>
        </p:nvSpPr>
        <p:spPr>
          <a:xfrm>
            <a:off x="9429750" y="6274073"/>
            <a:ext cx="7943850" cy="657225"/>
          </a:xfrm>
          <a:prstGeom prst="rect">
            <a:avLst/>
          </a:prstGeom>
          <a:solidFill>
            <a:srgbClr val="405BA4">
              <a:alpha val="11000"/>
            </a:srgbClr>
          </a:solidFill>
          <a:ln/>
        </p:spPr>
        <p:txBody>
          <a:bodyPr/>
          <a:lstStyle/>
          <a:p>
            <a:endParaRPr lang="en-US"/>
          </a:p>
        </p:txBody>
      </p:sp>
      <p:sp>
        <p:nvSpPr>
          <p:cNvPr id="22" name="Shape 20"/>
          <p:cNvSpPr/>
          <p:nvPr/>
        </p:nvSpPr>
        <p:spPr>
          <a:xfrm>
            <a:off x="9429750" y="6274073"/>
            <a:ext cx="7943850" cy="19050"/>
          </a:xfrm>
          <a:prstGeom prst="rect">
            <a:avLst/>
          </a:prstGeom>
          <a:solidFill>
            <a:srgbClr val="1C1C1A"/>
          </a:solidFill>
          <a:ln/>
        </p:spPr>
        <p:txBody>
          <a:bodyPr/>
          <a:lstStyle/>
          <a:p>
            <a:endParaRPr lang="en-US"/>
          </a:p>
        </p:txBody>
      </p:sp>
      <p:sp>
        <p:nvSpPr>
          <p:cNvPr id="23" name="Shape 21"/>
          <p:cNvSpPr/>
          <p:nvPr/>
        </p:nvSpPr>
        <p:spPr>
          <a:xfrm>
            <a:off x="9429750" y="6274073"/>
            <a:ext cx="19050" cy="657225"/>
          </a:xfrm>
          <a:prstGeom prst="rect">
            <a:avLst/>
          </a:prstGeom>
          <a:solidFill>
            <a:srgbClr val="1C1C1A"/>
          </a:solidFill>
          <a:ln/>
        </p:spPr>
        <p:txBody>
          <a:bodyPr/>
          <a:lstStyle/>
          <a:p>
            <a:endParaRPr lang="en-US"/>
          </a:p>
        </p:txBody>
      </p:sp>
      <p:sp>
        <p:nvSpPr>
          <p:cNvPr id="24" name="Shape 22"/>
          <p:cNvSpPr/>
          <p:nvPr/>
        </p:nvSpPr>
        <p:spPr>
          <a:xfrm>
            <a:off x="17354550" y="6274073"/>
            <a:ext cx="19050" cy="657225"/>
          </a:xfrm>
          <a:prstGeom prst="rect">
            <a:avLst/>
          </a:prstGeom>
          <a:solidFill>
            <a:srgbClr val="1C1C1A"/>
          </a:solidFill>
          <a:ln/>
        </p:spPr>
        <p:txBody>
          <a:bodyPr/>
          <a:lstStyle/>
          <a:p>
            <a:endParaRPr lang="en-US"/>
          </a:p>
        </p:txBody>
      </p:sp>
      <p:sp>
        <p:nvSpPr>
          <p:cNvPr id="25" name="Text 23"/>
          <p:cNvSpPr/>
          <p:nvPr/>
        </p:nvSpPr>
        <p:spPr>
          <a:xfrm>
            <a:off x="9658350" y="6464573"/>
            <a:ext cx="624855"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1C1C1A"/>
                </a:solidFill>
                <a:latin typeface="IBM Plex Mono" pitchFamily="34" charset="0"/>
                <a:ea typeface="IBM Plex Mono" pitchFamily="34" charset="-122"/>
                <a:cs typeface="IBM Plex Mono" pitchFamily="34" charset="-120"/>
              </a:rPr>
              <a:t>WARM</a:t>
            </a:r>
            <a:endParaRPr lang="en-US" sz="1800" dirty="0"/>
          </a:p>
        </p:txBody>
      </p:sp>
      <p:sp>
        <p:nvSpPr>
          <p:cNvPr id="26" name="Text 24"/>
          <p:cNvSpPr/>
          <p:nvPr/>
        </p:nvSpPr>
        <p:spPr>
          <a:xfrm>
            <a:off x="15364792" y="6478860"/>
            <a:ext cx="195822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767468"/>
                </a:solidFill>
                <a:latin typeface="Arial" pitchFamily="34" charset="0"/>
                <a:ea typeface="Arial" pitchFamily="34" charset="-122"/>
                <a:cs typeface="Arial" pitchFamily="34" charset="-120"/>
              </a:rPr>
              <a:t>reusable evidence</a:t>
            </a:r>
            <a:endParaRPr lang="en-US" sz="1800" dirty="0"/>
          </a:p>
        </p:txBody>
      </p:sp>
      <p:sp>
        <p:nvSpPr>
          <p:cNvPr id="27" name="Shape 25"/>
          <p:cNvSpPr/>
          <p:nvPr/>
        </p:nvSpPr>
        <p:spPr>
          <a:xfrm>
            <a:off x="9429750" y="6931298"/>
            <a:ext cx="7943850" cy="676275"/>
          </a:xfrm>
          <a:prstGeom prst="rect">
            <a:avLst/>
          </a:prstGeom>
          <a:solidFill>
            <a:srgbClr val="3D59A6">
              <a:alpha val="18000"/>
            </a:srgbClr>
          </a:solidFill>
          <a:ln w="19050">
            <a:solidFill>
              <a:srgbClr val="1C1C1A"/>
            </a:solidFill>
            <a:prstDash val="solid"/>
          </a:ln>
        </p:spPr>
        <p:txBody>
          <a:bodyPr/>
          <a:lstStyle/>
          <a:p>
            <a:endParaRPr lang="en-US"/>
          </a:p>
        </p:txBody>
      </p:sp>
      <p:sp>
        <p:nvSpPr>
          <p:cNvPr id="28" name="Text 26"/>
          <p:cNvSpPr/>
          <p:nvPr/>
        </p:nvSpPr>
        <p:spPr>
          <a:xfrm>
            <a:off x="9658350" y="7121798"/>
            <a:ext cx="1173510" cy="333375"/>
          </a:xfrm>
          <a:prstGeom prst="rect">
            <a:avLst/>
          </a:prstGeom>
          <a:noFill/>
          <a:ln/>
        </p:spPr>
        <p:txBody>
          <a:bodyPr wrap="square" lIns="25400" tIns="25400" rIns="25400" bIns="25400" rtlCol="0" anchor="t">
            <a:normAutofit/>
          </a:bodyPr>
          <a:lstStyle/>
          <a:p>
            <a:pPr marL="0" indent="0" algn="l">
              <a:buNone/>
            </a:pPr>
            <a:r>
              <a:rPr lang="en-US" sz="1800" b="1" dirty="0">
                <a:solidFill>
                  <a:srgbClr val="1C1C1A"/>
                </a:solidFill>
                <a:latin typeface="IBM Plex Mono" pitchFamily="34" charset="0"/>
                <a:ea typeface="IBM Plex Mono" pitchFamily="34" charset="-122"/>
                <a:cs typeface="IBM Plex Mono" pitchFamily="34" charset="-120"/>
              </a:rPr>
              <a:t>VOLATILE</a:t>
            </a:r>
            <a:endParaRPr lang="en-US" sz="1800" dirty="0"/>
          </a:p>
        </p:txBody>
      </p:sp>
      <p:sp>
        <p:nvSpPr>
          <p:cNvPr id="29" name="Text 27"/>
          <p:cNvSpPr/>
          <p:nvPr/>
        </p:nvSpPr>
        <p:spPr>
          <a:xfrm>
            <a:off x="14141351" y="7136085"/>
            <a:ext cx="330401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767468"/>
                </a:solidFill>
                <a:latin typeface="Arial" pitchFamily="34" charset="0"/>
                <a:ea typeface="Arial" pitchFamily="34" charset="-122"/>
                <a:cs typeface="Arial" pitchFamily="34" charset="-120"/>
              </a:rPr>
              <a:t>current request + observations</a:t>
            </a:r>
            <a:endParaRPr lang="en-US" sz="1800" dirty="0"/>
          </a:p>
        </p:txBody>
      </p:sp>
      <p:sp>
        <p:nvSpPr>
          <p:cNvPr id="31" name="TextBox 30">
            <a:extLst>
              <a:ext uri="{FF2B5EF4-FFF2-40B4-BE49-F238E27FC236}">
                <a16:creationId xmlns:a16="http://schemas.microsoft.com/office/drawing/2014/main" id="{6392A8CA-4CE1-E026-EF81-B20F6D20DA9F}"/>
              </a:ext>
            </a:extLst>
          </p:cNvPr>
          <p:cNvSpPr txBox="1"/>
          <p:nvPr/>
        </p:nvSpPr>
        <p:spPr>
          <a:xfrm>
            <a:off x="9096565" y="8015986"/>
            <a:ext cx="9509760" cy="830997"/>
          </a:xfrm>
          <a:prstGeom prst="rect">
            <a:avLst/>
          </a:prstGeom>
          <a:noFill/>
        </p:spPr>
        <p:txBody>
          <a:bodyPr wrap="square">
            <a:spAutoFit/>
          </a:bodyPr>
          <a:lstStyle/>
          <a:p>
            <a:r>
              <a:rPr lang="en-US" sz="2400" b="0" i="0" u="none" strike="noStrike" dirty="0">
                <a:solidFill>
                  <a:schemeClr val="tx1"/>
                </a:solidFill>
                <a:effectLst/>
                <a:latin typeface="+mn-lt"/>
              </a:rPr>
              <a:t>Ordinary turns append selected information. </a:t>
            </a:r>
            <a:r>
              <a:rPr lang="en-US" sz="2400" dirty="0"/>
              <a:t>O</a:t>
            </a:r>
            <a:r>
              <a:rPr lang="en-US" sz="2400" b="0" i="0" u="none" strike="noStrike" dirty="0">
                <a:solidFill>
                  <a:schemeClr val="tx1"/>
                </a:solidFill>
                <a:effectLst/>
                <a:latin typeface="+mn-lt"/>
              </a:rPr>
              <a:t>rdering changes occur at context creation or an explicit rebuild (compaction </a:t>
            </a:r>
            <a:r>
              <a:rPr lang="en-US" sz="2400" b="0" i="0" u="none" strike="noStrike" dirty="0" err="1">
                <a:solidFill>
                  <a:schemeClr val="tx1"/>
                </a:solidFill>
                <a:effectLst/>
                <a:latin typeface="+mn-lt"/>
              </a:rPr>
              <a:t>etc</a:t>
            </a:r>
            <a:r>
              <a:rPr lang="en-US" sz="24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a:lnSpc>
                <a:spcPct val="86154"/>
              </a:lnSpc>
            </a:pPr>
            <a:r>
              <a:rPr lang="en-US" sz="4500" b="1" dirty="0">
                <a:solidFill>
                  <a:srgbClr val="1C1C1A"/>
                </a:solidFill>
                <a:latin typeface="IBM Plex Mono" pitchFamily="34" charset="0"/>
                <a:ea typeface="IBM Plex Mono" pitchFamily="34" charset="-122"/>
                <a:cs typeface="IBM Plex Mono" pitchFamily="34" charset="-120"/>
              </a:rPr>
              <a:t>The manager executes and publishes work consistently: To be Explored &amp; Designed</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914400" y="3580470"/>
            <a:ext cx="8738235"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Schedule workers and route requests to the serving backend.</a:t>
            </a:r>
            <a:endParaRPr lang="en-US" sz="2175" dirty="0"/>
          </a:p>
        </p:txBody>
      </p:sp>
      <p:sp>
        <p:nvSpPr>
          <p:cNvPr id="6" name="Text 4"/>
          <p:cNvSpPr/>
          <p:nvPr/>
        </p:nvSpPr>
        <p:spPr>
          <a:xfrm>
            <a:off x="862548" y="4429981"/>
            <a:ext cx="8738235"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Control concurrency and conflicting writes.</a:t>
            </a:r>
            <a:endParaRPr lang="en-US" sz="2175" dirty="0"/>
          </a:p>
        </p:txBody>
      </p:sp>
      <p:sp>
        <p:nvSpPr>
          <p:cNvPr id="7" name="Text 5"/>
          <p:cNvSpPr/>
          <p:nvPr/>
        </p:nvSpPr>
        <p:spPr>
          <a:xfrm>
            <a:off x="862548" y="5235996"/>
            <a:ext cx="8738235"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Recheck source versions before execution and result publication.</a:t>
            </a:r>
            <a:endParaRPr lang="en-US" sz="2175" dirty="0"/>
          </a:p>
        </p:txBody>
      </p:sp>
      <p:sp>
        <p:nvSpPr>
          <p:cNvPr id="8" name="Text 6"/>
          <p:cNvSpPr/>
          <p:nvPr/>
        </p:nvSpPr>
        <p:spPr>
          <a:xfrm>
            <a:off x="862549" y="5990258"/>
            <a:ext cx="8738235" cy="424755"/>
          </a:xfrm>
          <a:prstGeom prst="rect">
            <a:avLst/>
          </a:prstGeom>
          <a:noFill/>
          <a:ln/>
        </p:spPr>
        <p:txBody>
          <a:bodyPr wrap="square" lIns="25400" tIns="25400" rIns="25400" bIns="25400" rtlCol="0" anchor="t">
            <a:normAutofit/>
          </a:bodyPr>
          <a:lstStyle/>
          <a:p>
            <a:pPr marL="0" indent="0" algn="l">
              <a:lnSpc>
                <a:spcPct val="121194"/>
              </a:lnSpc>
              <a:buNone/>
            </a:pPr>
            <a:r>
              <a:rPr lang="en-US" sz="2175" dirty="0">
                <a:solidFill>
                  <a:srgbClr val="1C1C1A"/>
                </a:solidFill>
                <a:latin typeface="Arial" pitchFamily="34" charset="0"/>
                <a:ea typeface="Arial" pitchFamily="34" charset="-122"/>
                <a:cs typeface="Arial" pitchFamily="34" charset="-120"/>
              </a:rPr>
              <a:t>Record outputs, dependencies, failures, and resource usage.</a:t>
            </a:r>
            <a:endParaRPr lang="en-US" sz="2175" dirty="0"/>
          </a:p>
        </p:txBody>
      </p:sp>
      <p:sp>
        <p:nvSpPr>
          <p:cNvPr id="9" name="Shape 7"/>
          <p:cNvSpPr/>
          <p:nvPr/>
        </p:nvSpPr>
        <p:spPr>
          <a:xfrm>
            <a:off x="10299799" y="5507310"/>
            <a:ext cx="1615455" cy="600075"/>
          </a:xfrm>
          <a:prstGeom prst="rect">
            <a:avLst/>
          </a:prstGeom>
          <a:ln w="19050">
            <a:solidFill>
              <a:srgbClr val="1C1C1A"/>
            </a:solidFill>
            <a:prstDash val="solid"/>
          </a:ln>
        </p:spPr>
        <p:txBody>
          <a:bodyPr/>
          <a:lstStyle/>
          <a:p>
            <a:endParaRPr lang="en-US"/>
          </a:p>
        </p:txBody>
      </p:sp>
      <p:sp>
        <p:nvSpPr>
          <p:cNvPr id="10" name="Text 8"/>
          <p:cNvSpPr/>
          <p:nvPr/>
        </p:nvSpPr>
        <p:spPr>
          <a:xfrm>
            <a:off x="10490299" y="5659710"/>
            <a:ext cx="131065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Scheduler</a:t>
            </a:r>
            <a:endParaRPr lang="en-US" sz="1800" dirty="0"/>
          </a:p>
        </p:txBody>
      </p:sp>
      <p:sp>
        <p:nvSpPr>
          <p:cNvPr id="11" name="Text 9"/>
          <p:cNvSpPr/>
          <p:nvPr/>
        </p:nvSpPr>
        <p:spPr>
          <a:xfrm>
            <a:off x="12048604" y="5659710"/>
            <a:ext cx="213866"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a:t>
            </a:r>
            <a:endParaRPr lang="en-US" sz="1800" dirty="0"/>
          </a:p>
        </p:txBody>
      </p:sp>
      <p:sp>
        <p:nvSpPr>
          <p:cNvPr id="12" name="Shape 10"/>
          <p:cNvSpPr/>
          <p:nvPr/>
        </p:nvSpPr>
        <p:spPr>
          <a:xfrm>
            <a:off x="12319620" y="5507310"/>
            <a:ext cx="1341165" cy="600075"/>
          </a:xfrm>
          <a:prstGeom prst="rect">
            <a:avLst/>
          </a:prstGeom>
          <a:ln w="19050">
            <a:solidFill>
              <a:srgbClr val="1C1C1A"/>
            </a:solidFill>
            <a:prstDash val="solid"/>
          </a:ln>
        </p:spPr>
        <p:txBody>
          <a:bodyPr/>
          <a:lstStyle/>
          <a:p>
            <a:endParaRPr lang="en-US"/>
          </a:p>
        </p:txBody>
      </p:sp>
      <p:sp>
        <p:nvSpPr>
          <p:cNvPr id="13" name="Text 11"/>
          <p:cNvSpPr/>
          <p:nvPr/>
        </p:nvSpPr>
        <p:spPr>
          <a:xfrm>
            <a:off x="12510120" y="5659710"/>
            <a:ext cx="103636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Workers</a:t>
            </a:r>
            <a:endParaRPr lang="en-US" sz="1800" dirty="0"/>
          </a:p>
        </p:txBody>
      </p:sp>
      <p:sp>
        <p:nvSpPr>
          <p:cNvPr id="14" name="Text 12"/>
          <p:cNvSpPr/>
          <p:nvPr/>
        </p:nvSpPr>
        <p:spPr>
          <a:xfrm>
            <a:off x="13794135" y="5659710"/>
            <a:ext cx="213866"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a:t>
            </a:r>
            <a:endParaRPr lang="en-US" sz="1800" dirty="0"/>
          </a:p>
        </p:txBody>
      </p:sp>
      <p:sp>
        <p:nvSpPr>
          <p:cNvPr id="15" name="Shape 13"/>
          <p:cNvSpPr/>
          <p:nvPr/>
        </p:nvSpPr>
        <p:spPr>
          <a:xfrm>
            <a:off x="14065151" y="5507310"/>
            <a:ext cx="2438400" cy="600075"/>
          </a:xfrm>
          <a:prstGeom prst="rect">
            <a:avLst/>
          </a:prstGeom>
          <a:ln w="19050">
            <a:solidFill>
              <a:srgbClr val="3D5AA8"/>
            </a:solidFill>
            <a:prstDash val="solid"/>
          </a:ln>
        </p:spPr>
        <p:txBody>
          <a:bodyPr/>
          <a:lstStyle/>
          <a:p>
            <a:endParaRPr lang="en-US"/>
          </a:p>
        </p:txBody>
      </p:sp>
      <p:sp>
        <p:nvSpPr>
          <p:cNvPr id="16" name="Text 14"/>
          <p:cNvSpPr/>
          <p:nvPr/>
        </p:nvSpPr>
        <p:spPr>
          <a:xfrm>
            <a:off x="14255651" y="5659710"/>
            <a:ext cx="2133600" cy="333375"/>
          </a:xfrm>
          <a:prstGeom prst="rect">
            <a:avLst/>
          </a:prstGeom>
          <a:noFill/>
          <a:ln/>
        </p:spPr>
        <p:txBody>
          <a:bodyPr wrap="square" lIns="25400" tIns="25400" rIns="25400" bIns="25400" rtlCol="0" anchor="t">
            <a:normAutofit/>
          </a:bodyPr>
          <a:lstStyle/>
          <a:p>
            <a:pPr marL="0" indent="0" algn="l">
              <a:buNone/>
            </a:pPr>
            <a:r>
              <a:rPr lang="en-US" sz="1800" dirty="0">
                <a:solidFill>
                  <a:srgbClr val="1C1C1A"/>
                </a:solidFill>
                <a:latin typeface="IBM Plex Mono" pitchFamily="34" charset="0"/>
                <a:ea typeface="IBM Plex Mono" pitchFamily="34" charset="-122"/>
                <a:cs typeface="IBM Plex Mono" pitchFamily="34" charset="-120"/>
              </a:rPr>
              <a:t>Serving backend</a:t>
            </a:r>
            <a:endParaRPr lang="en-US" sz="1800" dirty="0"/>
          </a:p>
        </p:txBody>
      </p:sp>
      <p:sp>
        <p:nvSpPr>
          <p:cNvPr id="17" name="Text 15"/>
          <p:cNvSpPr/>
          <p:nvPr/>
        </p:nvSpPr>
        <p:spPr>
          <a:xfrm>
            <a:off x="9310592" y="6297885"/>
            <a:ext cx="8182165" cy="1066800"/>
          </a:xfrm>
          <a:prstGeom prst="rect">
            <a:avLst/>
          </a:prstGeom>
          <a:noFill/>
          <a:ln/>
        </p:spPr>
        <p:txBody>
          <a:bodyPr wrap="square" lIns="25400" tIns="25400" rIns="25400" bIns="25400" rtlCol="0" anchor="t">
            <a:normAutofit/>
          </a:bodyPr>
          <a:lstStyle/>
          <a:p>
            <a:pPr marL="0" indent="0" algn="ctr">
              <a:lnSpc>
                <a:spcPct val="116129"/>
              </a:lnSpc>
              <a:buNone/>
            </a:pPr>
            <a:r>
              <a:rPr lang="en-US" sz="1800" dirty="0">
                <a:solidFill>
                  <a:srgbClr val="767468"/>
                </a:solidFill>
                <a:latin typeface="IBM Plex Mono" pitchFamily="34" charset="0"/>
                <a:ea typeface="IBM Plex Mono" pitchFamily="34" charset="-122"/>
                <a:cs typeface="IBM Plex Mono" pitchFamily="34" charset="-120"/>
              </a:rPr>
              <a:t>Managed records can be published atomically. Filesystem changes and external tool effects require their own execution controls.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Example pipeline that connects Database, planner, assembler, and manager</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Shape 3"/>
          <p:cNvSpPr/>
          <p:nvPr/>
        </p:nvSpPr>
        <p:spPr>
          <a:xfrm>
            <a:off x="4438650" y="3645173"/>
            <a:ext cx="9410700" cy="5543550"/>
          </a:xfrm>
          <a:prstGeom prst="rect">
            <a:avLst/>
          </a:prstGeom>
          <a:solidFill>
            <a:srgbClr val="FFFFFF"/>
          </a:solidFill>
          <a:ln w="19050">
            <a:solidFill>
              <a:srgbClr val="C9C6BC"/>
            </a:solidFill>
            <a:prstDash val="solid"/>
          </a:ln>
        </p:spPr>
        <p:txBody>
          <a:bodyPr/>
          <a:lstStyle/>
          <a:p>
            <a:endParaRPr lang="en-US"/>
          </a:p>
        </p:txBody>
      </p:sp>
      <p:pic>
        <p:nvPicPr>
          <p:cNvPr id="7" name="Picture 6" descr="Model planning and serving workflow">
            <a:extLst>
              <a:ext uri="{FF2B5EF4-FFF2-40B4-BE49-F238E27FC236}">
                <a16:creationId xmlns:a16="http://schemas.microsoft.com/office/drawing/2014/main" id="{51F4867D-78D5-291D-B8AE-8655A50AE0AC}"/>
              </a:ext>
            </a:extLst>
          </p:cNvPr>
          <p:cNvPicPr>
            <a:picLocks noChangeAspect="1"/>
          </p:cNvPicPr>
          <p:nvPr/>
        </p:nvPicPr>
        <p:blipFill>
          <a:blip r:embed="rId3"/>
          <a:stretch>
            <a:fillRect/>
          </a:stretch>
        </p:blipFill>
        <p:spPr>
          <a:xfrm>
            <a:off x="3036392" y="3599801"/>
            <a:ext cx="12574909" cy="57195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8105120" cy="678135"/>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Proposed Contribution, the goal, the experiments</a:t>
            </a:r>
            <a:endParaRPr lang="en-US" sz="4500" dirty="0"/>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Text 3"/>
          <p:cNvSpPr/>
          <p:nvPr/>
        </p:nvSpPr>
        <p:spPr>
          <a:xfrm>
            <a:off x="781397" y="2923594"/>
            <a:ext cx="1695450" cy="1533525"/>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Contribution</a:t>
            </a:r>
            <a:endParaRPr lang="en-US" sz="1800" dirty="0"/>
          </a:p>
        </p:txBody>
      </p:sp>
      <p:sp>
        <p:nvSpPr>
          <p:cNvPr id="6" name="Text 4"/>
          <p:cNvSpPr/>
          <p:nvPr/>
        </p:nvSpPr>
        <p:spPr>
          <a:xfrm>
            <a:off x="2609850" y="2774970"/>
            <a:ext cx="15049690" cy="1476375"/>
          </a:xfrm>
          <a:prstGeom prst="rect">
            <a:avLst/>
          </a:prstGeom>
          <a:noFill/>
          <a:ln/>
        </p:spPr>
        <p:txBody>
          <a:bodyPr wrap="square" lIns="25400" tIns="25400" rIns="25400" bIns="25400" rtlCol="0" anchor="t">
            <a:normAutofit fontScale="85000" lnSpcReduction="10000"/>
          </a:bodyPr>
          <a:lstStyle/>
          <a:p>
            <a:pPr lvl="0"/>
            <a:r>
              <a:rPr lang="en-US" sz="2800" b="1" dirty="0"/>
              <a:t>Architecture:</a:t>
            </a:r>
            <a:r>
              <a:rPr lang="en-US" sz="2800" dirty="0"/>
              <a:t> We investigate multilayer recursive delegation over shared, versioned agent memory. Workers create scoped child workers while retaining detailed histories and recorded evidence dependencies outside parent prompts.</a:t>
            </a:r>
          </a:p>
          <a:p>
            <a:pPr lvl="0"/>
            <a:r>
              <a:rPr lang="en-US" sz="2800" b="1" dirty="0"/>
              <a:t>Planner:</a:t>
            </a:r>
            <a:r>
              <a:rPr lang="en-US" sz="2800" dirty="0"/>
              <a:t> A learned, cost-aware planner jointly selects workers, evidence, and context-management operations, choosing among direct retrieval, continuation, resumption, and recursive delegation.</a:t>
            </a:r>
          </a:p>
        </p:txBody>
      </p:sp>
      <p:sp>
        <p:nvSpPr>
          <p:cNvPr id="8" name="Text 6"/>
          <p:cNvSpPr/>
          <p:nvPr/>
        </p:nvSpPr>
        <p:spPr>
          <a:xfrm>
            <a:off x="914400" y="4779168"/>
            <a:ext cx="1695450" cy="728663"/>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GOAL</a:t>
            </a:r>
            <a:endParaRPr lang="en-US" sz="1800" dirty="0"/>
          </a:p>
        </p:txBody>
      </p:sp>
      <p:sp>
        <p:nvSpPr>
          <p:cNvPr id="9" name="Text 7"/>
          <p:cNvSpPr/>
          <p:nvPr/>
        </p:nvSpPr>
        <p:spPr>
          <a:xfrm>
            <a:off x="2609850" y="4605492"/>
            <a:ext cx="15049690" cy="728663"/>
          </a:xfrm>
          <a:prstGeom prst="rect">
            <a:avLst/>
          </a:prstGeom>
          <a:noFill/>
          <a:ln/>
        </p:spPr>
        <p:txBody>
          <a:bodyPr wrap="square" lIns="25400" tIns="25400" rIns="25400" bIns="25400" rtlCol="0" anchor="t">
            <a:noAutofit/>
          </a:bodyPr>
          <a:lstStyle/>
          <a:p>
            <a:r>
              <a:rPr lang="en-US" sz="2400" dirty="0"/>
              <a:t>Reduce total run cost at comparable or better verified task success. Plan selection accounts for agent calls, retrieval, communication, context maintenance, and planner overhead, including compatible KV-cache reuse and memory residency.</a:t>
            </a:r>
            <a:endParaRPr lang="en-US" sz="3200" dirty="0">
              <a:latin typeface="Calibri" panose="020F0502020204030204" pitchFamily="34" charset="0"/>
              <a:cs typeface="Calibri" panose="020F0502020204030204" pitchFamily="34" charset="0"/>
            </a:endParaRPr>
          </a:p>
        </p:txBody>
      </p:sp>
      <p:sp>
        <p:nvSpPr>
          <p:cNvPr id="10" name="Text 8"/>
          <p:cNvSpPr/>
          <p:nvPr/>
        </p:nvSpPr>
        <p:spPr>
          <a:xfrm>
            <a:off x="781397" y="6467415"/>
            <a:ext cx="1695450" cy="728663"/>
          </a:xfrm>
          <a:prstGeom prst="rect">
            <a:avLst/>
          </a:prstGeom>
          <a:noFill/>
          <a:ln/>
        </p:spPr>
        <p:txBody>
          <a:bodyPr wrap="square" lIns="25400" tIns="25400" rIns="25400" bIns="25400" rtlCol="0" anchor="t">
            <a:normAutofit/>
          </a:bodyPr>
          <a:lstStyle/>
          <a:p>
            <a:pPr marL="0" indent="0" algn="l">
              <a:buNone/>
            </a:pPr>
            <a:r>
              <a:rPr lang="en-US" sz="1800" dirty="0">
                <a:solidFill>
                  <a:srgbClr val="3D5AA8"/>
                </a:solidFill>
                <a:latin typeface="IBM Plex Mono" pitchFamily="34" charset="0"/>
                <a:ea typeface="IBM Plex Mono" pitchFamily="34" charset="-122"/>
                <a:cs typeface="IBM Plex Mono" pitchFamily="34" charset="-120"/>
              </a:rPr>
              <a:t>EXPERIMENTS</a:t>
            </a:r>
            <a:endParaRPr lang="en-US" sz="1800" dirty="0"/>
          </a:p>
        </p:txBody>
      </p:sp>
      <p:sp>
        <p:nvSpPr>
          <p:cNvPr id="11" name="Text 9"/>
          <p:cNvSpPr/>
          <p:nvPr/>
        </p:nvSpPr>
        <p:spPr>
          <a:xfrm>
            <a:off x="2609850" y="6389800"/>
            <a:ext cx="15049690" cy="1612556"/>
          </a:xfrm>
          <a:prstGeom prst="rect">
            <a:avLst/>
          </a:prstGeom>
          <a:noFill/>
          <a:ln/>
        </p:spPr>
        <p:txBody>
          <a:bodyPr wrap="square" lIns="25400" tIns="25400" rIns="25400" bIns="25400" rtlCol="0" anchor="t">
            <a:normAutofit/>
          </a:bodyPr>
          <a:lstStyle/>
          <a:p>
            <a:r>
              <a:rPr lang="en-US" sz="2400" dirty="0"/>
              <a:t>Evaluate task success, total cost, latency, and context growth under matched resource budgets. Compare joint planning with independent policies, and use controlled ablations to measure the effects of recursive delegation, learning, and cache reuse.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98824"/>
              </a:lnSpc>
              <a:spcBef>
                <a:spcPts val="0"/>
              </a:spcBef>
              <a:spcAft>
                <a:spcPts val="0"/>
              </a:spcAft>
              <a:buClrTx/>
              <a:buSzTx/>
              <a:buFontTx/>
              <a:buNone/>
              <a:tabLst/>
              <a:defRPr/>
            </a:pPr>
            <a:r>
              <a:rPr kumimoji="0" lang="en-US" sz="45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We test three versions of the planner's selection logic</a:t>
            </a:r>
            <a:endParaRPr kumimoji="0" lang="en-US" sz="4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914400" y="2908846"/>
            <a:ext cx="16459200" cy="19050"/>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3847058"/>
            <a:ext cx="2628900" cy="28575"/>
          </a:xfrm>
          <a:prstGeom prst="rect">
            <a:avLst/>
          </a:prstGeom>
          <a:solidFill>
            <a:srgbClr val="1C1C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914400" y="3251746"/>
            <a:ext cx="2555367" cy="538163"/>
          </a:xfrm>
          <a:prstGeom prst="rect">
            <a:avLst/>
          </a:prstGeom>
          <a:noFill/>
          <a:ln/>
        </p:spPr>
        <p:txBody>
          <a:bodyPr wrap="square" lIns="25400" tIns="25400" rIns="25400" bIns="25400" rtlCol="0" anchor="ct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Experimental version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543300" y="3847058"/>
            <a:ext cx="7832303" cy="28575"/>
          </a:xfrm>
          <a:prstGeom prst="rect">
            <a:avLst/>
          </a:prstGeom>
          <a:solidFill>
            <a:srgbClr val="1C1C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733800" y="3251746"/>
            <a:ext cx="7686272" cy="538163"/>
          </a:xfrm>
          <a:prstGeom prst="rect">
            <a:avLst/>
          </a:prstGeom>
          <a:noFill/>
          <a:ln/>
        </p:spPr>
        <p:txBody>
          <a:bodyPr wrap="square" lIns="25400" tIns="25400" rIns="25400" bIns="2540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How it chooses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11375603" y="3847058"/>
            <a:ext cx="5997997" cy="28575"/>
          </a:xfrm>
          <a:prstGeom prst="rect">
            <a:avLst/>
          </a:prstGeom>
          <a:solidFill>
            <a:srgbClr val="1C1C1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1375603" y="3251746"/>
            <a:ext cx="6177937" cy="538163"/>
          </a:xfrm>
          <a:prstGeom prst="rect">
            <a:avLst/>
          </a:prstGeom>
          <a:noFill/>
          <a:ln/>
        </p:spPr>
        <p:txBody>
          <a:bodyPr wrap="square" lIns="25400" tIns="25400" rIns="25400" bIns="2540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Question?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914400" y="4448994"/>
            <a:ext cx="26289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914400" y="4008983"/>
            <a:ext cx="2555367" cy="34476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5556"/>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Fixed rules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3543300" y="4448994"/>
            <a:ext cx="7832303"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733800" y="4008983"/>
            <a:ext cx="7686272" cy="34476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Uses simple triggers for retrieval, continuation, and delegation.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1375603" y="4448994"/>
            <a:ext cx="5997997"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11375603" y="4008983"/>
            <a:ext cx="6177937" cy="34476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67468"/>
                </a:solidFill>
                <a:effectLst/>
                <a:uLnTx/>
                <a:uFillTx/>
                <a:latin typeface="Arial" pitchFamily="34" charset="0"/>
                <a:ea typeface="Arial" pitchFamily="34" charset="-122"/>
                <a:cs typeface="Arial" pitchFamily="34" charset="-120"/>
              </a:rPr>
              <a:t>Does the architecture help before adding an optimizer?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914400" y="5319489"/>
            <a:ext cx="26289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914400" y="4591869"/>
            <a:ext cx="2555367" cy="632371"/>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5556"/>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Cost-based selection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3543300" y="5319489"/>
            <a:ext cx="7832303"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3733800" y="4591869"/>
            <a:ext cx="7686272" cy="63237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Compares candidate plans using measured profiles and simple forecasts.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11375603" y="5319489"/>
            <a:ext cx="5997997"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1375603" y="4591869"/>
            <a:ext cx="6177937" cy="63237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67468"/>
                </a:solidFill>
                <a:effectLst/>
                <a:uLnTx/>
                <a:uFillTx/>
                <a:latin typeface="Arial" pitchFamily="34" charset="0"/>
                <a:ea typeface="Arial" pitchFamily="34" charset="-122"/>
                <a:cs typeface="Arial" pitchFamily="34" charset="-120"/>
              </a:rPr>
              <a:t>Does explicitly comparing costs improve decisions?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14400" y="5462364"/>
            <a:ext cx="2555367" cy="339998"/>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5556"/>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Learned selection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733800" y="5462364"/>
            <a:ext cx="7686272" cy="339998"/>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Uses trained forecasts and a learned policy informed by the cost model.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11375603" y="5462364"/>
            <a:ext cx="6177937" cy="339998"/>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67468"/>
                </a:solidFill>
                <a:effectLst/>
                <a:uLnTx/>
                <a:uFillTx/>
                <a:latin typeface="Arial" pitchFamily="34" charset="0"/>
                <a:ea typeface="Arial" pitchFamily="34" charset="-122"/>
                <a:cs typeface="Arial" pitchFamily="34" charset="-120"/>
              </a:rPr>
              <a:t>Does learning improve on the simpler cost-based selector?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914400" y="6145262"/>
            <a:ext cx="18105120" cy="41910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5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In the full system, the responsibilities fit together:</a:t>
            </a:r>
            <a:endParaRPr kumimoji="0" lang="en-US" sz="25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914400" y="6659612"/>
            <a:ext cx="8843010" cy="370508"/>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7818"/>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Cost model — </a:t>
            </a: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estimates the resource cost of each candidate.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334500" y="6659612"/>
            <a:ext cx="8843010" cy="370508"/>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7818"/>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Assembler — </a:t>
            </a: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builds its exact prompt.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14400" y="7068220"/>
            <a:ext cx="8280273" cy="67910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7818"/>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Learned policy within the planner — </a:t>
            </a: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uses those estimates, task state, and dependencies to select a plan.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9334500" y="7068220"/>
            <a:ext cx="8280273" cy="67910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7818"/>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Manager — </a:t>
            </a: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executes it and records the outcome.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947651" y="8510215"/>
            <a:ext cx="45719" cy="720030"/>
          </a:xfrm>
          <a:prstGeom prst="rect">
            <a:avLst/>
          </a:prstGeom>
          <a:solidFill>
            <a:srgbClr val="3D5AA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1189101" y="8510215"/>
            <a:ext cx="16678275" cy="758130"/>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6308"/>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There is one selected plan per decision. Deterministic checks enforce versions, permissions, and context limits in every experimental version.</a:t>
            </a:r>
            <a:endParaRPr kumimoji="0" lang="en-US" sz="2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Compare the architecture and the learning separately</a:t>
            </a:r>
            <a:endParaRPr lang="en-US" sz="4500" dirty="0"/>
          </a:p>
        </p:txBody>
      </p:sp>
      <p:sp>
        <p:nvSpPr>
          <p:cNvPr id="4" name="Shape 2"/>
          <p:cNvSpPr/>
          <p:nvPr/>
        </p:nvSpPr>
        <p:spPr>
          <a:xfrm>
            <a:off x="914400" y="2908846"/>
            <a:ext cx="16459200" cy="19050"/>
          </a:xfrm>
          <a:prstGeom prst="rect">
            <a:avLst/>
          </a:prstGeom>
          <a:solidFill>
            <a:srgbClr val="C9C6BC"/>
          </a:solidFill>
          <a:ln/>
        </p:spPr>
        <p:txBody>
          <a:bodyPr/>
          <a:lstStyle/>
          <a:p>
            <a:endParaRPr lang="en-US"/>
          </a:p>
        </p:txBody>
      </p:sp>
      <p:sp>
        <p:nvSpPr>
          <p:cNvPr id="5" name="Text 3"/>
          <p:cNvSpPr/>
          <p:nvPr/>
        </p:nvSpPr>
        <p:spPr>
          <a:xfrm>
            <a:off x="914400" y="3194596"/>
            <a:ext cx="873823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CORE COMPARISONS</a:t>
            </a:r>
            <a:endParaRPr lang="en-US" sz="1800" dirty="0"/>
          </a:p>
        </p:txBody>
      </p:sp>
      <p:sp>
        <p:nvSpPr>
          <p:cNvPr id="6" name="Text 4"/>
          <p:cNvSpPr/>
          <p:nvPr/>
        </p:nvSpPr>
        <p:spPr>
          <a:xfrm>
            <a:off x="914400" y="3642271"/>
            <a:ext cx="8738235" cy="409575"/>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1C1C1A"/>
                </a:solidFill>
                <a:latin typeface="Arial" pitchFamily="34" charset="0"/>
                <a:ea typeface="Arial" pitchFamily="34" charset="-122"/>
                <a:cs typeface="Arial" pitchFamily="34" charset="-120"/>
              </a:rPr>
              <a:t>Flat agent with tuned append-only execution and compaction.</a:t>
            </a:r>
            <a:endParaRPr lang="en-US" sz="1950" dirty="0"/>
          </a:p>
        </p:txBody>
      </p:sp>
      <p:sp>
        <p:nvSpPr>
          <p:cNvPr id="7" name="Text 5"/>
          <p:cNvSpPr/>
          <p:nvPr/>
        </p:nvSpPr>
        <p:spPr>
          <a:xfrm>
            <a:off x="914400" y="4013746"/>
            <a:ext cx="8738235" cy="409575"/>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1C1C1A"/>
                </a:solidFill>
                <a:latin typeface="Arial" pitchFamily="34" charset="0"/>
                <a:ea typeface="Arial" pitchFamily="34" charset="-122"/>
                <a:cs typeface="Arial" pitchFamily="34" charset="-120"/>
              </a:rPr>
              <a:t>ACM.</a:t>
            </a:r>
            <a:endParaRPr lang="en-US" sz="1950" dirty="0"/>
          </a:p>
        </p:txBody>
      </p:sp>
      <p:sp>
        <p:nvSpPr>
          <p:cNvPr id="8" name="Text 6"/>
          <p:cNvSpPr/>
          <p:nvPr/>
        </p:nvSpPr>
        <p:spPr>
          <a:xfrm>
            <a:off x="914400" y="4385221"/>
            <a:ext cx="8738235" cy="409575"/>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1C1C1A"/>
                </a:solidFill>
                <a:latin typeface="Arial" pitchFamily="34" charset="0"/>
                <a:ea typeface="Arial" pitchFamily="34" charset="-122"/>
                <a:cs typeface="Arial" pitchFamily="34" charset="-120"/>
              </a:rPr>
              <a:t>Scroll.</a:t>
            </a:r>
            <a:endParaRPr lang="en-US" sz="1950" dirty="0"/>
          </a:p>
        </p:txBody>
      </p:sp>
      <p:sp>
        <p:nvSpPr>
          <p:cNvPr id="9" name="Text 7"/>
          <p:cNvSpPr/>
          <p:nvPr/>
        </p:nvSpPr>
        <p:spPr>
          <a:xfrm>
            <a:off x="914400" y="4756696"/>
            <a:ext cx="8738235" cy="409575"/>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1C1C1A"/>
                </a:solidFill>
                <a:latin typeface="Arial" pitchFamily="34" charset="0"/>
                <a:ea typeface="Arial" pitchFamily="34" charset="-122"/>
                <a:cs typeface="Arial" pitchFamily="34" charset="-120"/>
              </a:rPr>
              <a:t>Context-Folding.</a:t>
            </a:r>
            <a:endParaRPr lang="en-US" sz="1950" dirty="0"/>
          </a:p>
        </p:txBody>
      </p:sp>
      <p:sp>
        <p:nvSpPr>
          <p:cNvPr id="10" name="Text 8"/>
          <p:cNvSpPr/>
          <p:nvPr/>
        </p:nvSpPr>
        <p:spPr>
          <a:xfrm>
            <a:off x="914400" y="5128171"/>
            <a:ext cx="8738235" cy="409575"/>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1C1C1A"/>
                </a:solidFill>
                <a:latin typeface="Arial" pitchFamily="34" charset="0"/>
                <a:ea typeface="Arial" pitchFamily="34" charset="-122"/>
                <a:cs typeface="Arial" pitchFamily="34" charset="-120"/>
              </a:rPr>
              <a:t>LCM. </a:t>
            </a:r>
            <a:endParaRPr lang="en-US" sz="1950" dirty="0"/>
          </a:p>
        </p:txBody>
      </p:sp>
      <p:sp>
        <p:nvSpPr>
          <p:cNvPr id="19" name="TextBox 18">
            <a:extLst>
              <a:ext uri="{FF2B5EF4-FFF2-40B4-BE49-F238E27FC236}">
                <a16:creationId xmlns:a16="http://schemas.microsoft.com/office/drawing/2014/main" id="{23511192-66B9-B48C-012E-7D1045C1F1BF}"/>
              </a:ext>
            </a:extLst>
          </p:cNvPr>
          <p:cNvSpPr txBox="1"/>
          <p:nvPr/>
        </p:nvSpPr>
        <p:spPr>
          <a:xfrm>
            <a:off x="914400" y="5537746"/>
            <a:ext cx="787395" cy="369332"/>
          </a:xfrm>
          <a:prstGeom prst="rect">
            <a:avLst/>
          </a:prstGeom>
          <a:noFill/>
        </p:spPr>
        <p:txBody>
          <a:bodyPr wrap="none" rtlCol="0">
            <a:spAutoFit/>
          </a:bodyPr>
          <a:lstStyle/>
          <a:p>
            <a:r>
              <a:rPr lang="en-US" dirty="0">
                <a:solidFill>
                  <a:srgbClr val="1C1C1A"/>
                </a:solidFill>
                <a:latin typeface="Arial" pitchFamily="34" charset="0"/>
                <a:ea typeface="Arial" pitchFamily="34" charset="-122"/>
                <a:cs typeface="Arial" pitchFamily="34" charset="-120"/>
              </a:rPr>
              <a:t>React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6952976" cy="1318171"/>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Existing systems provide different parts of the solution</a:t>
            </a:r>
            <a:endParaRPr lang="en-US" sz="4500" dirty="0"/>
          </a:p>
        </p:txBody>
      </p:sp>
      <p:sp>
        <p:nvSpPr>
          <p:cNvPr id="4" name="Shape 2"/>
          <p:cNvSpPr/>
          <p:nvPr/>
        </p:nvSpPr>
        <p:spPr>
          <a:xfrm>
            <a:off x="914400" y="3785146"/>
            <a:ext cx="8165306" cy="28575"/>
          </a:xfrm>
          <a:prstGeom prst="rect">
            <a:avLst/>
          </a:prstGeom>
          <a:solidFill>
            <a:srgbClr val="1C1C1A"/>
          </a:solidFill>
          <a:ln/>
        </p:spPr>
        <p:txBody>
          <a:bodyPr/>
          <a:lstStyle/>
          <a:p>
            <a:endParaRPr lang="en-US"/>
          </a:p>
        </p:txBody>
      </p:sp>
      <p:sp>
        <p:nvSpPr>
          <p:cNvPr id="5" name="Text 3"/>
          <p:cNvSpPr/>
          <p:nvPr/>
        </p:nvSpPr>
        <p:spPr>
          <a:xfrm>
            <a:off x="1104900" y="3308896"/>
            <a:ext cx="8029265" cy="381000"/>
          </a:xfrm>
          <a:prstGeom prst="rect">
            <a:avLst/>
          </a:prstGeom>
          <a:noFill/>
          <a:ln/>
        </p:spPr>
        <p:txBody>
          <a:bodyPr wrap="square" lIns="25400" tIns="25400" rIns="25400" bIns="25400" rtlCol="0" anchor="ctr">
            <a:normAutofit lnSpcReduction="10000"/>
          </a:bodyPr>
          <a:lstStyle/>
          <a:p>
            <a:pPr marL="0" indent="0" algn="l">
              <a:buNone/>
            </a:pPr>
            <a:r>
              <a:rPr lang="en-US" sz="2175" b="1" dirty="0">
                <a:solidFill>
                  <a:srgbClr val="1C1C1A"/>
                </a:solidFill>
                <a:latin typeface="IBM Plex Mono" pitchFamily="34" charset="0"/>
                <a:ea typeface="IBM Plex Mono" pitchFamily="34" charset="-122"/>
                <a:cs typeface="IBM Plex Mono" pitchFamily="34" charset="-120"/>
              </a:rPr>
              <a:t>Direction</a:t>
            </a:r>
            <a:endParaRPr lang="en-US" sz="2175" dirty="0"/>
          </a:p>
        </p:txBody>
      </p:sp>
      <p:sp>
        <p:nvSpPr>
          <p:cNvPr id="6" name="Shape 4"/>
          <p:cNvSpPr/>
          <p:nvPr/>
        </p:nvSpPr>
        <p:spPr>
          <a:xfrm>
            <a:off x="9079706" y="3785146"/>
            <a:ext cx="8293894" cy="28575"/>
          </a:xfrm>
          <a:prstGeom prst="rect">
            <a:avLst/>
          </a:prstGeom>
          <a:solidFill>
            <a:srgbClr val="1C1C1A"/>
          </a:solidFill>
          <a:ln/>
        </p:spPr>
        <p:txBody>
          <a:bodyPr/>
          <a:lstStyle/>
          <a:p>
            <a:endParaRPr lang="en-US"/>
          </a:p>
        </p:txBody>
      </p:sp>
      <p:sp>
        <p:nvSpPr>
          <p:cNvPr id="7" name="Text 5"/>
          <p:cNvSpPr/>
          <p:nvPr/>
        </p:nvSpPr>
        <p:spPr>
          <a:xfrm>
            <a:off x="9270206" y="3308896"/>
            <a:ext cx="8161711" cy="381000"/>
          </a:xfrm>
          <a:prstGeom prst="rect">
            <a:avLst/>
          </a:prstGeom>
          <a:noFill/>
          <a:ln/>
        </p:spPr>
        <p:txBody>
          <a:bodyPr wrap="square" lIns="25400" tIns="25400" rIns="25400" bIns="25400" rtlCol="0" anchor="ctr">
            <a:normAutofit lnSpcReduction="10000"/>
          </a:bodyPr>
          <a:lstStyle/>
          <a:p>
            <a:pPr marL="0" indent="0" algn="l">
              <a:buNone/>
            </a:pPr>
            <a:r>
              <a:rPr lang="en-US" sz="2175" b="1" dirty="0">
                <a:solidFill>
                  <a:srgbClr val="1C1C1A"/>
                </a:solidFill>
                <a:latin typeface="IBM Plex Mono" pitchFamily="34" charset="0"/>
                <a:ea typeface="IBM Plex Mono" pitchFamily="34" charset="-122"/>
                <a:cs typeface="IBM Plex Mono" pitchFamily="34" charset="-120"/>
              </a:rPr>
              <a:t>Examples</a:t>
            </a:r>
            <a:endParaRPr lang="en-US" sz="2175" dirty="0"/>
          </a:p>
        </p:txBody>
      </p:sp>
      <p:sp>
        <p:nvSpPr>
          <p:cNvPr id="8" name="Shape 6"/>
          <p:cNvSpPr/>
          <p:nvPr/>
        </p:nvSpPr>
        <p:spPr>
          <a:xfrm>
            <a:off x="914400" y="4447133"/>
            <a:ext cx="8165306" cy="9525"/>
          </a:xfrm>
          <a:prstGeom prst="rect">
            <a:avLst/>
          </a:prstGeom>
          <a:solidFill>
            <a:srgbClr val="C9C6BC"/>
          </a:solidFill>
          <a:ln/>
        </p:spPr>
        <p:txBody>
          <a:bodyPr/>
          <a:lstStyle/>
          <a:p>
            <a:endParaRPr lang="en-US"/>
          </a:p>
        </p:txBody>
      </p:sp>
      <p:sp>
        <p:nvSpPr>
          <p:cNvPr id="9" name="Text 7"/>
          <p:cNvSpPr/>
          <p:nvPr/>
        </p:nvSpPr>
        <p:spPr>
          <a:xfrm>
            <a:off x="1104900" y="3947071"/>
            <a:ext cx="8029265" cy="404813"/>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Learned context management and folding</a:t>
            </a:r>
            <a:endParaRPr lang="en-US" sz="2175" dirty="0"/>
          </a:p>
        </p:txBody>
      </p:sp>
      <p:sp>
        <p:nvSpPr>
          <p:cNvPr id="10" name="Shape 8"/>
          <p:cNvSpPr/>
          <p:nvPr/>
        </p:nvSpPr>
        <p:spPr>
          <a:xfrm>
            <a:off x="9079706" y="4447133"/>
            <a:ext cx="8293894" cy="9525"/>
          </a:xfrm>
          <a:prstGeom prst="rect">
            <a:avLst/>
          </a:prstGeom>
          <a:solidFill>
            <a:srgbClr val="C9C6BC"/>
          </a:solidFill>
          <a:ln/>
        </p:spPr>
        <p:txBody>
          <a:bodyPr/>
          <a:lstStyle/>
          <a:p>
            <a:endParaRPr lang="en-US"/>
          </a:p>
        </p:txBody>
      </p:sp>
      <p:sp>
        <p:nvSpPr>
          <p:cNvPr id="11" name="Text 9"/>
          <p:cNvSpPr/>
          <p:nvPr/>
        </p:nvSpPr>
        <p:spPr>
          <a:xfrm>
            <a:off x="9270206" y="3947071"/>
            <a:ext cx="8161711" cy="404813"/>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ACM, Context-Folding</a:t>
            </a:r>
            <a:endParaRPr lang="en-US" sz="2175" dirty="0"/>
          </a:p>
        </p:txBody>
      </p:sp>
      <p:sp>
        <p:nvSpPr>
          <p:cNvPr id="12" name="Shape 10"/>
          <p:cNvSpPr/>
          <p:nvPr/>
        </p:nvSpPr>
        <p:spPr>
          <a:xfrm>
            <a:off x="914400" y="5080546"/>
            <a:ext cx="8165306" cy="9525"/>
          </a:xfrm>
          <a:prstGeom prst="rect">
            <a:avLst/>
          </a:prstGeom>
          <a:solidFill>
            <a:srgbClr val="C9C6BC"/>
          </a:solidFill>
          <a:ln/>
        </p:spPr>
        <p:txBody>
          <a:bodyPr/>
          <a:lstStyle/>
          <a:p>
            <a:endParaRPr lang="en-US"/>
          </a:p>
        </p:txBody>
      </p:sp>
      <p:sp>
        <p:nvSpPr>
          <p:cNvPr id="13" name="Text 11"/>
          <p:cNvSpPr/>
          <p:nvPr/>
        </p:nvSpPr>
        <p:spPr>
          <a:xfrm>
            <a:off x="1104900" y="4590008"/>
            <a:ext cx="8029265"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Programmatic access to external context</a:t>
            </a:r>
            <a:endParaRPr lang="en-US" sz="2175" dirty="0"/>
          </a:p>
        </p:txBody>
      </p:sp>
      <p:sp>
        <p:nvSpPr>
          <p:cNvPr id="14" name="Shape 12"/>
          <p:cNvSpPr/>
          <p:nvPr/>
        </p:nvSpPr>
        <p:spPr>
          <a:xfrm>
            <a:off x="9079706" y="5080546"/>
            <a:ext cx="8293894" cy="9525"/>
          </a:xfrm>
          <a:prstGeom prst="rect">
            <a:avLst/>
          </a:prstGeom>
          <a:solidFill>
            <a:srgbClr val="C9C6BC"/>
          </a:solidFill>
          <a:ln/>
        </p:spPr>
        <p:txBody>
          <a:bodyPr/>
          <a:lstStyle/>
          <a:p>
            <a:endParaRPr lang="en-US"/>
          </a:p>
        </p:txBody>
      </p:sp>
      <p:sp>
        <p:nvSpPr>
          <p:cNvPr id="15" name="Text 13"/>
          <p:cNvSpPr/>
          <p:nvPr/>
        </p:nvSpPr>
        <p:spPr>
          <a:xfrm>
            <a:off x="9270206" y="4590008"/>
            <a:ext cx="8161711"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Scroll, Recursive Language Models</a:t>
            </a:r>
            <a:endParaRPr lang="en-US" sz="2175" dirty="0"/>
          </a:p>
        </p:txBody>
      </p:sp>
      <p:sp>
        <p:nvSpPr>
          <p:cNvPr id="16" name="Shape 14"/>
          <p:cNvSpPr/>
          <p:nvPr/>
        </p:nvSpPr>
        <p:spPr>
          <a:xfrm>
            <a:off x="914400" y="5713958"/>
            <a:ext cx="8165306" cy="9525"/>
          </a:xfrm>
          <a:prstGeom prst="rect">
            <a:avLst/>
          </a:prstGeom>
          <a:solidFill>
            <a:srgbClr val="C9C6BC"/>
          </a:solidFill>
          <a:ln/>
        </p:spPr>
        <p:txBody>
          <a:bodyPr/>
          <a:lstStyle/>
          <a:p>
            <a:endParaRPr lang="en-US"/>
          </a:p>
        </p:txBody>
      </p:sp>
      <p:sp>
        <p:nvSpPr>
          <p:cNvPr id="17" name="Text 15"/>
          <p:cNvSpPr/>
          <p:nvPr/>
        </p:nvSpPr>
        <p:spPr>
          <a:xfrm>
            <a:off x="1104900" y="5223421"/>
            <a:ext cx="8029265"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Persistent memory and recursive operators</a:t>
            </a:r>
            <a:endParaRPr lang="en-US" sz="2175" dirty="0"/>
          </a:p>
        </p:txBody>
      </p:sp>
      <p:sp>
        <p:nvSpPr>
          <p:cNvPr id="18" name="Shape 16"/>
          <p:cNvSpPr/>
          <p:nvPr/>
        </p:nvSpPr>
        <p:spPr>
          <a:xfrm>
            <a:off x="9079706" y="5713958"/>
            <a:ext cx="8293894" cy="9525"/>
          </a:xfrm>
          <a:prstGeom prst="rect">
            <a:avLst/>
          </a:prstGeom>
          <a:solidFill>
            <a:srgbClr val="C9C6BC"/>
          </a:solidFill>
          <a:ln/>
        </p:spPr>
        <p:txBody>
          <a:bodyPr/>
          <a:lstStyle/>
          <a:p>
            <a:endParaRPr lang="en-US"/>
          </a:p>
        </p:txBody>
      </p:sp>
      <p:sp>
        <p:nvSpPr>
          <p:cNvPr id="19" name="Text 17"/>
          <p:cNvSpPr/>
          <p:nvPr/>
        </p:nvSpPr>
        <p:spPr>
          <a:xfrm>
            <a:off x="9270206" y="5223421"/>
            <a:ext cx="8161711"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LCM</a:t>
            </a:r>
            <a:endParaRPr lang="en-US" sz="2175" dirty="0"/>
          </a:p>
        </p:txBody>
      </p:sp>
      <p:sp>
        <p:nvSpPr>
          <p:cNvPr id="20" name="Shape 18"/>
          <p:cNvSpPr/>
          <p:nvPr/>
        </p:nvSpPr>
        <p:spPr>
          <a:xfrm>
            <a:off x="914400" y="6347371"/>
            <a:ext cx="8165306" cy="9525"/>
          </a:xfrm>
          <a:prstGeom prst="rect">
            <a:avLst/>
          </a:prstGeom>
          <a:solidFill>
            <a:srgbClr val="C9C6BC"/>
          </a:solidFill>
          <a:ln/>
        </p:spPr>
        <p:txBody>
          <a:bodyPr/>
          <a:lstStyle/>
          <a:p>
            <a:endParaRPr lang="en-US"/>
          </a:p>
        </p:txBody>
      </p:sp>
      <p:sp>
        <p:nvSpPr>
          <p:cNvPr id="21" name="Text 19"/>
          <p:cNvSpPr/>
          <p:nvPr/>
        </p:nvSpPr>
        <p:spPr>
          <a:xfrm>
            <a:off x="1104900" y="5856833"/>
            <a:ext cx="8029265"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Automated worker creation</a:t>
            </a:r>
            <a:endParaRPr lang="en-US" sz="2175" dirty="0"/>
          </a:p>
        </p:txBody>
      </p:sp>
      <p:sp>
        <p:nvSpPr>
          <p:cNvPr id="22" name="Shape 20"/>
          <p:cNvSpPr/>
          <p:nvPr/>
        </p:nvSpPr>
        <p:spPr>
          <a:xfrm>
            <a:off x="9079706" y="6347371"/>
            <a:ext cx="8293894" cy="9525"/>
          </a:xfrm>
          <a:prstGeom prst="rect">
            <a:avLst/>
          </a:prstGeom>
          <a:solidFill>
            <a:srgbClr val="C9C6BC"/>
          </a:solidFill>
          <a:ln/>
        </p:spPr>
        <p:txBody>
          <a:bodyPr/>
          <a:lstStyle/>
          <a:p>
            <a:endParaRPr lang="en-US"/>
          </a:p>
        </p:txBody>
      </p:sp>
      <p:sp>
        <p:nvSpPr>
          <p:cNvPr id="23" name="Text 21"/>
          <p:cNvSpPr/>
          <p:nvPr/>
        </p:nvSpPr>
        <p:spPr>
          <a:xfrm>
            <a:off x="9270206" y="5856833"/>
            <a:ext cx="8161711"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AOrchestra</a:t>
            </a:r>
            <a:endParaRPr lang="en-US" sz="2175" dirty="0"/>
          </a:p>
        </p:txBody>
      </p:sp>
      <p:sp>
        <p:nvSpPr>
          <p:cNvPr id="24" name="Shape 22"/>
          <p:cNvSpPr/>
          <p:nvPr/>
        </p:nvSpPr>
        <p:spPr>
          <a:xfrm>
            <a:off x="914400" y="6980783"/>
            <a:ext cx="8165306" cy="9525"/>
          </a:xfrm>
          <a:prstGeom prst="rect">
            <a:avLst/>
          </a:prstGeom>
          <a:solidFill>
            <a:srgbClr val="C9C6BC"/>
          </a:solidFill>
          <a:ln/>
        </p:spPr>
        <p:txBody>
          <a:bodyPr/>
          <a:lstStyle/>
          <a:p>
            <a:endParaRPr lang="en-US"/>
          </a:p>
        </p:txBody>
      </p:sp>
      <p:sp>
        <p:nvSpPr>
          <p:cNvPr id="25" name="Text 23"/>
          <p:cNvSpPr/>
          <p:nvPr/>
        </p:nvSpPr>
        <p:spPr>
          <a:xfrm>
            <a:off x="1104900" y="6490246"/>
            <a:ext cx="8029265"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Context assembly and execution optimization</a:t>
            </a:r>
            <a:endParaRPr lang="en-US" sz="2175" dirty="0"/>
          </a:p>
        </p:txBody>
      </p:sp>
      <p:sp>
        <p:nvSpPr>
          <p:cNvPr id="26" name="Shape 24"/>
          <p:cNvSpPr/>
          <p:nvPr/>
        </p:nvSpPr>
        <p:spPr>
          <a:xfrm>
            <a:off x="9079706" y="6980783"/>
            <a:ext cx="8293894" cy="9525"/>
          </a:xfrm>
          <a:prstGeom prst="rect">
            <a:avLst/>
          </a:prstGeom>
          <a:solidFill>
            <a:srgbClr val="C9C6BC"/>
          </a:solidFill>
          <a:ln/>
        </p:spPr>
        <p:txBody>
          <a:bodyPr/>
          <a:lstStyle/>
          <a:p>
            <a:endParaRPr lang="en-US"/>
          </a:p>
        </p:txBody>
      </p:sp>
      <p:sp>
        <p:nvSpPr>
          <p:cNvPr id="27" name="Text 25"/>
          <p:cNvSpPr/>
          <p:nvPr/>
        </p:nvSpPr>
        <p:spPr>
          <a:xfrm>
            <a:off x="9270206" y="6490246"/>
            <a:ext cx="8161711"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ContextPipe, Palimpzest</a:t>
            </a:r>
            <a:endParaRPr lang="en-US" sz="2175" dirty="0"/>
          </a:p>
        </p:txBody>
      </p:sp>
      <p:sp>
        <p:nvSpPr>
          <p:cNvPr id="28" name="Shape 26"/>
          <p:cNvSpPr/>
          <p:nvPr/>
        </p:nvSpPr>
        <p:spPr>
          <a:xfrm>
            <a:off x="914400" y="7614196"/>
            <a:ext cx="8165306" cy="9525"/>
          </a:xfrm>
          <a:prstGeom prst="rect">
            <a:avLst/>
          </a:prstGeom>
          <a:solidFill>
            <a:srgbClr val="C9C6BC"/>
          </a:solidFill>
          <a:ln/>
        </p:spPr>
        <p:txBody>
          <a:bodyPr/>
          <a:lstStyle/>
          <a:p>
            <a:endParaRPr lang="en-US"/>
          </a:p>
        </p:txBody>
      </p:sp>
      <p:sp>
        <p:nvSpPr>
          <p:cNvPr id="29" name="Text 27"/>
          <p:cNvSpPr/>
          <p:nvPr/>
        </p:nvSpPr>
        <p:spPr>
          <a:xfrm>
            <a:off x="1104900" y="7123658"/>
            <a:ext cx="8029265"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Arial" pitchFamily="34" charset="0"/>
                <a:ea typeface="Arial" pitchFamily="34" charset="-122"/>
                <a:cs typeface="Arial" pitchFamily="34" charset="-120"/>
              </a:rPr>
              <a:t>Predictive KV management</a:t>
            </a:r>
            <a:endParaRPr lang="en-US" sz="2175" dirty="0"/>
          </a:p>
        </p:txBody>
      </p:sp>
      <p:sp>
        <p:nvSpPr>
          <p:cNvPr id="30" name="Shape 28"/>
          <p:cNvSpPr/>
          <p:nvPr/>
        </p:nvSpPr>
        <p:spPr>
          <a:xfrm>
            <a:off x="9079706" y="7614196"/>
            <a:ext cx="8293894" cy="9525"/>
          </a:xfrm>
          <a:prstGeom prst="rect">
            <a:avLst/>
          </a:prstGeom>
          <a:solidFill>
            <a:srgbClr val="C9C6BC"/>
          </a:solidFill>
          <a:ln/>
        </p:spPr>
        <p:txBody>
          <a:bodyPr/>
          <a:lstStyle/>
          <a:p>
            <a:endParaRPr lang="en-US"/>
          </a:p>
        </p:txBody>
      </p:sp>
      <p:sp>
        <p:nvSpPr>
          <p:cNvPr id="31" name="Text 29"/>
          <p:cNvSpPr/>
          <p:nvPr/>
        </p:nvSpPr>
        <p:spPr>
          <a:xfrm>
            <a:off x="9270206" y="7123658"/>
            <a:ext cx="8161711" cy="395288"/>
          </a:xfrm>
          <a:prstGeom prst="rect">
            <a:avLst/>
          </a:prstGeom>
          <a:noFill/>
          <a:ln/>
        </p:spPr>
        <p:txBody>
          <a:bodyPr wrap="square" lIns="25400" tIns="25400" rIns="25400" bIns="25400" rtlCol="0" anchor="ctr">
            <a:normAutofit/>
          </a:bodyPr>
          <a:lstStyle/>
          <a:p>
            <a:pPr marL="0" indent="0" algn="l">
              <a:buNone/>
            </a:pPr>
            <a:r>
              <a:rPr lang="en-US" sz="2175" dirty="0">
                <a:solidFill>
                  <a:srgbClr val="1C1C1A"/>
                </a:solidFill>
                <a:latin typeface="IBM Plex Mono" pitchFamily="34" charset="0"/>
                <a:ea typeface="IBM Plex Mono" pitchFamily="34" charset="-122"/>
                <a:cs typeface="IBM Plex Mono" pitchFamily="34" charset="-120"/>
              </a:rPr>
              <a:t>PBKV</a:t>
            </a:r>
            <a:endParaRPr lang="en-US" sz="2175" dirty="0"/>
          </a:p>
        </p:txBody>
      </p:sp>
      <p:sp>
        <p:nvSpPr>
          <p:cNvPr id="32" name="Shape 30"/>
          <p:cNvSpPr/>
          <p:nvPr/>
        </p:nvSpPr>
        <p:spPr>
          <a:xfrm>
            <a:off x="914400" y="7971383"/>
            <a:ext cx="38100" cy="874365"/>
          </a:xfrm>
          <a:prstGeom prst="rect">
            <a:avLst/>
          </a:prstGeom>
          <a:solidFill>
            <a:srgbClr val="3D5AA8"/>
          </a:solidFill>
          <a:ln/>
        </p:spPr>
        <p:txBody>
          <a:bodyPr/>
          <a:lstStyle/>
          <a:p>
            <a:endParaRPr lang="en-US"/>
          </a:p>
        </p:txBody>
      </p:sp>
      <p:sp>
        <p:nvSpPr>
          <p:cNvPr id="33" name="Text 31"/>
          <p:cNvSpPr/>
          <p:nvPr/>
        </p:nvSpPr>
        <p:spPr>
          <a:xfrm>
            <a:off x="1181100" y="7971383"/>
            <a:ext cx="16678275" cy="912465"/>
          </a:xfrm>
          <a:prstGeom prst="rect">
            <a:avLst/>
          </a:prstGeom>
          <a:noFill/>
          <a:ln/>
        </p:spPr>
        <p:txBody>
          <a:bodyPr wrap="square" lIns="25400" tIns="25400" rIns="25400" bIns="25400" rtlCol="0" anchor="t">
            <a:normAutofit lnSpcReduction="10000"/>
          </a:bodyPr>
          <a:lstStyle/>
          <a:p>
            <a:pPr marL="0" indent="0" algn="l">
              <a:lnSpc>
                <a:spcPct val="117692"/>
              </a:lnSpc>
              <a:buNone/>
            </a:pPr>
            <a:r>
              <a:rPr lang="en-US" sz="2550" dirty="0">
                <a:solidFill>
                  <a:srgbClr val="1C1C1A"/>
                </a:solidFill>
                <a:latin typeface="Arial" pitchFamily="34" charset="0"/>
                <a:ea typeface="Arial" pitchFamily="34" charset="-122"/>
                <a:cs typeface="Arial" pitchFamily="34" charset="-120"/>
              </a:rPr>
              <a:t>The research question is whether coordinating these decisions around shared, versioned agent memory produces a measurable benefit.</a:t>
            </a:r>
            <a:endParaRPr lang="en-US" sz="2550" dirty="0"/>
          </a:p>
        </p:txBody>
      </p:sp>
      <p:sp>
        <p:nvSpPr>
          <p:cNvPr id="34" name="Text 32"/>
          <p:cNvSpPr/>
          <p:nvPr/>
        </p:nvSpPr>
        <p:spPr>
          <a:xfrm>
            <a:off x="914400" y="9074348"/>
            <a:ext cx="9810750" cy="923925"/>
          </a:xfrm>
          <a:prstGeom prst="rect">
            <a:avLst/>
          </a:prstGeom>
          <a:noFill/>
          <a:ln/>
        </p:spPr>
        <p:txBody>
          <a:bodyPr wrap="square" lIns="25400" tIns="25400" rIns="25400" bIns="25400" rtlCol="0" anchor="t">
            <a:normAutofit/>
          </a:bodyPr>
          <a:lstStyle/>
          <a:p>
            <a:pPr marL="0" indent="0" algn="l">
              <a:buNone/>
            </a:pPr>
            <a:r>
              <a:rPr lang="en-US" sz="1800" dirty="0">
                <a:solidFill>
                  <a:srgbClr val="767468"/>
                </a:solidFill>
                <a:latin typeface="IBM Plex Mono" pitchFamily="34" charset="0"/>
                <a:ea typeface="IBM Plex Mono" pitchFamily="34" charset="-122"/>
                <a:cs typeface="IBM Plex Mono" pitchFamily="34" charset="-120"/>
              </a:rPr>
              <a:t>LCM already includes persistent history, a summary dependency structure, and subagent operators. Our contribution must go beyond their existence.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038225"/>
            <a:ext cx="18105120" cy="592782"/>
          </a:xfrm>
          <a:prstGeom prst="rect">
            <a:avLst/>
          </a:prstGeom>
          <a:noFill/>
          <a:ln/>
        </p:spPr>
        <p:txBody>
          <a:bodyPr wrap="square" lIns="25400" tIns="25400" rIns="25400" bIns="25400" rtlCol="0" anchor="t">
            <a:normAutofit fontScale="92500" lnSpcReduction="10000"/>
          </a:bodyPr>
          <a:lstStyle/>
          <a:p>
            <a:pPr marL="0" marR="0" lvl="0" indent="0" algn="l" defTabSz="914400" rtl="0" eaLnBrk="1" fontAlgn="auto" latinLnBrk="0" hangingPunct="1">
              <a:lnSpc>
                <a:spcPct val="98712"/>
              </a:lnSpc>
              <a:spcBef>
                <a:spcPts val="0"/>
              </a:spcBef>
              <a:spcAft>
                <a:spcPts val="0"/>
              </a:spcAft>
              <a:buClrTx/>
              <a:buSzTx/>
              <a:buFontTx/>
              <a:buNone/>
              <a:tabLst/>
              <a:defRPr/>
            </a:pPr>
            <a:r>
              <a:rPr kumimoji="0" lang="en-US" sz="39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Comparing ACM, Context-Folding, and LCM to our approach</a:t>
            </a:r>
            <a:endParaRPr kumimoji="0" lang="en-US" sz="3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914400" y="1821507"/>
            <a:ext cx="16459200" cy="19050"/>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14400" y="3108201"/>
            <a:ext cx="22479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914400" y="2126307"/>
            <a:ext cx="2171700" cy="924744"/>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ACM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162300" y="3108201"/>
            <a:ext cx="142113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162300" y="2126307"/>
            <a:ext cx="14637639" cy="924744"/>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Trains the agent's context-management behavior. A teacher reviews student trajectories and supplies corrections about when context management should or should not occur. The student learns through on-policy distillation. Its runtime summarizes history, archives the original messages, and uses a querier LLM to retrieve relevant information from the archive.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914400" y="4496767"/>
            <a:ext cx="22479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914400" y="3212976"/>
            <a:ext cx="2171700" cy="122664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Context-Folding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162300" y="4496767"/>
            <a:ext cx="142113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162300" y="3212976"/>
            <a:ext cx="14637639" cy="122664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Trains task decomposition and branch/return behavior. Its FoldGRPO reinforcement-learning objective combines task success with penalties for excessive main-thread context, work outside a branch's assigned scope, and failed tool calls. The presented setup executes branches sequentially and disables nested branching. Returning restores the preserved parent-prefix KV state and appends the branch result.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914400" y="5588198"/>
            <a:ext cx="22479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914400" y="4601542"/>
            <a:ext cx="2171700" cy="929506"/>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1C1A"/>
                </a:solidFill>
                <a:effectLst/>
                <a:uLnTx/>
                <a:uFillTx/>
                <a:latin typeface="Courier New" pitchFamily="34" charset="0"/>
                <a:ea typeface="Courier New" pitchFamily="34" charset="-122"/>
                <a:cs typeface="Courier New" pitchFamily="34" charset="-120"/>
              </a:rPr>
              <a:t>LCM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162300" y="5588198"/>
            <a:ext cx="14211300" cy="9525"/>
          </a:xfrm>
          <a:prstGeom prst="rect">
            <a:avLst/>
          </a:prstGeom>
          <a:solidFill>
            <a:srgbClr val="C9C6B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162300" y="4601542"/>
            <a:ext cx="14637639" cy="929506"/>
          </a:xfrm>
          <a:prstGeom prst="rect">
            <a:avLst/>
          </a:prstGeom>
          <a:noFill/>
          <a:ln/>
        </p:spPr>
        <p:txBody>
          <a:bodyPr wrap="square" lIns="25400" tIns="25400" rIns="25400" bIns="25400" rtlCol="0" anchor="t">
            <a:normAutofit lnSpcReduction="10000"/>
          </a:bodyPr>
          <a:lstStyle/>
          <a:p>
            <a:pPr lvl="0">
              <a:lnSpc>
                <a:spcPct val="113455"/>
              </a:lnSpc>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It provides an engine-managed memory architecture around existing models: immutable history, hierarchical summaries, direct memory-access tools, and recursive subagent operators. Its lcm_grep searches stored history directly; expansion of large archived sections is delegated to subagents. </a:t>
            </a:r>
            <a:r>
              <a:rPr lang="en-US" dirty="0">
                <a:solidFill>
                  <a:srgbClr val="1C1C1A"/>
                </a:solidFill>
                <a:latin typeface="Arial" pitchFamily="34" charset="0"/>
                <a:ea typeface="Arial" pitchFamily="34" charset="-122"/>
                <a:cs typeface="Arial" pitchFamily="34" charset="-120"/>
              </a:rPr>
              <a:t>Introduces no new model-training pipeline.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914400" y="5692973"/>
            <a:ext cx="2171700" cy="63713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D5AA8"/>
                </a:solidFill>
                <a:effectLst/>
                <a:uLnTx/>
                <a:uFillTx/>
                <a:latin typeface="Courier New" pitchFamily="34" charset="0"/>
                <a:ea typeface="Courier New" pitchFamily="34" charset="-122"/>
                <a:cs typeface="Courier New" pitchFamily="34" charset="-120"/>
              </a:rPr>
              <a:t>Ours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162300" y="5692973"/>
            <a:ext cx="14637639" cy="637133"/>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3455"/>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Proposes learning execution-plan selection: forecasts of resource demand and future evidence use. </a:t>
            </a:r>
            <a:r>
              <a:rPr lang="en-US" dirty="0">
                <a:solidFill>
                  <a:srgbClr val="1C1C1A"/>
                </a:solidFill>
                <a:latin typeface="Arial" pitchFamily="34" charset="0"/>
                <a:ea typeface="Arial" pitchFamily="34" charset="-122"/>
                <a:cs typeface="Arial" pitchFamily="34" charset="-120"/>
              </a:rPr>
              <a:t>T</a:t>
            </a:r>
            <a:r>
              <a:rPr kumimoji="0" lang="en-US" sz="1800" b="0"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rain an RL policy that chooses workers and context plans. The assembler and manager remain deterministic code.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914400" y="6596807"/>
            <a:ext cx="38100" cy="678805"/>
          </a:xfrm>
          <a:prstGeom prst="rect">
            <a:avLst/>
          </a:prstGeom>
          <a:solidFill>
            <a:srgbClr val="3D5AA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1181100" y="6596807"/>
            <a:ext cx="17106900" cy="1108398"/>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14968"/>
              </a:lnSpc>
              <a:spcBef>
                <a:spcPts val="0"/>
              </a:spcBef>
              <a:spcAft>
                <a:spcPts val="0"/>
              </a:spcAft>
              <a:buClrTx/>
              <a:buSzTx/>
              <a:buFontTx/>
              <a:buNone/>
              <a:tabLst/>
              <a:defRPr/>
            </a:pPr>
            <a:r>
              <a:rPr kumimoji="0" lang="en-US" b="1" i="0" u="none" strike="noStrike" kern="1200" cap="none" spc="0" normalizeH="0" baseline="0" noProof="0" dirty="0">
                <a:ln>
                  <a:noFill/>
                </a:ln>
                <a:solidFill>
                  <a:srgbClr val="1C1C1A"/>
                </a:solidFill>
                <a:effectLst/>
                <a:uLnTx/>
                <a:uFillTx/>
                <a:latin typeface="Arial" pitchFamily="34" charset="0"/>
                <a:ea typeface="Arial" pitchFamily="34" charset="-122"/>
                <a:cs typeface="Arial" pitchFamily="34" charset="-120"/>
              </a:rPr>
              <a:t>We treat retrieval, worker continuation, worker reuse, recursive delegation, and context reconstruction as alternative execution plans over shared memory. We investigate whether choosing the worker and its context jointly improves task success and complete-run efficiency (cost, latency, scores on benchmarks)</a:t>
            </a:r>
            <a:endParaRPr kumimoji="0" lang="en-US"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181100" y="7849047"/>
            <a:ext cx="16952976" cy="623292"/>
          </a:xfrm>
          <a:prstGeom prst="rect">
            <a:avLst/>
          </a:prstGeom>
          <a:noFill/>
          <a:ln/>
        </p:spPr>
        <p:txBody>
          <a:bodyPr wrap="square" lIns="25400" tIns="25400" rIns="25400" bIns="25400" rtlCol="0" anchor="t">
            <a:normAutofit lnSpcReduction="10000"/>
          </a:bodyPr>
          <a:lstStyle/>
          <a:p>
            <a:pPr marL="0" marR="0" lvl="0" indent="0" algn="l" defTabSz="914400" rtl="0" eaLnBrk="1" fontAlgn="auto" latinLnBrk="0" hangingPunct="1">
              <a:lnSpc>
                <a:spcPct val="113778"/>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67468"/>
                </a:solidFill>
                <a:effectLst/>
                <a:uLnTx/>
                <a:uFillTx/>
                <a:latin typeface="Courier New" pitchFamily="34" charset="0"/>
                <a:ea typeface="Courier New" pitchFamily="34" charset="-122"/>
                <a:cs typeface="Courier New" pitchFamily="34" charset="-120"/>
              </a:rPr>
              <a:t>Direct lookup can avoid an additional reasoning call when the required information already exists. LCM already supports this; we would make it one alternative within a broader execution decision. </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8105120" cy="678135"/>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Open questions</a:t>
            </a:r>
            <a:endParaRPr lang="en-US" sz="4500" dirty="0"/>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Text 3"/>
          <p:cNvSpPr/>
          <p:nvPr/>
        </p:nvSpPr>
        <p:spPr>
          <a:xfrm>
            <a:off x="914400" y="2554560"/>
            <a:ext cx="464865" cy="2304083"/>
          </a:xfrm>
          <a:prstGeom prst="rect">
            <a:avLst/>
          </a:prstGeom>
          <a:noFill/>
          <a:ln/>
        </p:spPr>
        <p:txBody>
          <a:bodyPr wrap="square" lIns="25400" tIns="25400" rIns="25400" bIns="25400" rtlCol="0" anchor="t">
            <a:normAutofit/>
          </a:bodyPr>
          <a:lstStyle/>
          <a:p>
            <a:pPr marL="0" indent="0" algn="l">
              <a:buNone/>
            </a:pPr>
            <a:r>
              <a:rPr lang="en-US" sz="2550" dirty="0">
                <a:solidFill>
                  <a:srgbClr val="3D5AA8"/>
                </a:solidFill>
                <a:latin typeface="IBM Plex Mono" pitchFamily="34" charset="0"/>
                <a:ea typeface="IBM Plex Mono" pitchFamily="34" charset="-122"/>
                <a:cs typeface="IBM Plex Mono" pitchFamily="34" charset="-120"/>
              </a:rPr>
              <a:t>01</a:t>
            </a:r>
            <a:endParaRPr lang="en-US" sz="2550" dirty="0"/>
          </a:p>
        </p:txBody>
      </p:sp>
      <p:sp>
        <p:nvSpPr>
          <p:cNvPr id="6" name="Text 4"/>
          <p:cNvSpPr/>
          <p:nvPr/>
        </p:nvSpPr>
        <p:spPr>
          <a:xfrm>
            <a:off x="1493565" y="2554560"/>
            <a:ext cx="7319433" cy="2304083"/>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1C1C1A"/>
                </a:solidFill>
                <a:latin typeface="Arial" pitchFamily="34" charset="0"/>
                <a:ea typeface="Arial" pitchFamily="34" charset="-122"/>
                <a:cs typeface="Arial" pitchFamily="34" charset="-120"/>
              </a:rPr>
              <a:t>Cost of ACM and other benchmarks first?</a:t>
            </a:r>
            <a:endParaRPr lang="en-US" sz="2100" dirty="0"/>
          </a:p>
        </p:txBody>
      </p:sp>
      <p:sp>
        <p:nvSpPr>
          <p:cNvPr id="7" name="Text 5"/>
          <p:cNvSpPr/>
          <p:nvPr/>
        </p:nvSpPr>
        <p:spPr>
          <a:xfrm>
            <a:off x="9429750" y="2554560"/>
            <a:ext cx="464865" cy="2304083"/>
          </a:xfrm>
          <a:prstGeom prst="rect">
            <a:avLst/>
          </a:prstGeom>
          <a:noFill/>
          <a:ln/>
        </p:spPr>
        <p:txBody>
          <a:bodyPr wrap="square" lIns="25400" tIns="25400" rIns="25400" bIns="25400" rtlCol="0" anchor="t">
            <a:normAutofit/>
          </a:bodyPr>
          <a:lstStyle/>
          <a:p>
            <a:pPr marL="0" indent="0" algn="l">
              <a:buNone/>
            </a:pPr>
            <a:r>
              <a:rPr lang="en-US" sz="2550" dirty="0">
                <a:solidFill>
                  <a:srgbClr val="3D5AA8"/>
                </a:solidFill>
                <a:latin typeface="IBM Plex Mono" pitchFamily="34" charset="0"/>
                <a:ea typeface="IBM Plex Mono" pitchFamily="34" charset="-122"/>
                <a:cs typeface="IBM Plex Mono" pitchFamily="34" charset="-120"/>
              </a:rPr>
              <a:t>02</a:t>
            </a:r>
            <a:endParaRPr lang="en-US" sz="2550" dirty="0"/>
          </a:p>
        </p:txBody>
      </p:sp>
      <p:sp>
        <p:nvSpPr>
          <p:cNvPr id="8" name="Text 6"/>
          <p:cNvSpPr/>
          <p:nvPr/>
        </p:nvSpPr>
        <p:spPr>
          <a:xfrm>
            <a:off x="10008915" y="2554560"/>
            <a:ext cx="7585626" cy="2304083"/>
          </a:xfrm>
          <a:prstGeom prst="rect">
            <a:avLst/>
          </a:prstGeom>
          <a:noFill/>
          <a:ln/>
        </p:spPr>
        <p:txBody>
          <a:bodyPr wrap="square" lIns="25400" tIns="25400" rIns="25400" bIns="25400" rtlCol="0" anchor="t">
            <a:normAutofit/>
          </a:bodyPr>
          <a:lstStyle/>
          <a:p>
            <a:pPr>
              <a:lnSpc>
                <a:spcPct val="120615"/>
              </a:lnSpc>
            </a:pPr>
            <a:r>
              <a:rPr lang="en-US" sz="2100" dirty="0">
                <a:solidFill>
                  <a:srgbClr val="1C1C1A"/>
                </a:solidFill>
                <a:latin typeface="Arial" pitchFamily="34" charset="0"/>
                <a:ea typeface="Arial" pitchFamily="34" charset="-122"/>
                <a:cs typeface="Arial" pitchFamily="34" charset="-120"/>
              </a:rPr>
              <a:t>Does recursive delegation outperform a flat agent at the same total budget?</a:t>
            </a:r>
            <a:endParaRPr lang="en-US" sz="2100" dirty="0"/>
          </a:p>
        </p:txBody>
      </p:sp>
      <p:sp>
        <p:nvSpPr>
          <p:cNvPr id="9" name="Text 7"/>
          <p:cNvSpPr/>
          <p:nvPr/>
        </p:nvSpPr>
        <p:spPr>
          <a:xfrm>
            <a:off x="914400" y="5087243"/>
            <a:ext cx="464865" cy="2304083"/>
          </a:xfrm>
          <a:prstGeom prst="rect">
            <a:avLst/>
          </a:prstGeom>
          <a:noFill/>
          <a:ln/>
        </p:spPr>
        <p:txBody>
          <a:bodyPr wrap="square" lIns="25400" tIns="25400" rIns="25400" bIns="25400" rtlCol="0" anchor="t">
            <a:normAutofit/>
          </a:bodyPr>
          <a:lstStyle/>
          <a:p>
            <a:pPr marL="0" indent="0" algn="l">
              <a:buNone/>
            </a:pPr>
            <a:r>
              <a:rPr lang="en-US" sz="2550" dirty="0">
                <a:solidFill>
                  <a:srgbClr val="3D5AA8"/>
                </a:solidFill>
                <a:latin typeface="IBM Plex Mono" pitchFamily="34" charset="0"/>
                <a:ea typeface="IBM Plex Mono" pitchFamily="34" charset="-122"/>
                <a:cs typeface="IBM Plex Mono" pitchFamily="34" charset="-120"/>
              </a:rPr>
              <a:t>03</a:t>
            </a:r>
            <a:endParaRPr lang="en-US" sz="2550" dirty="0"/>
          </a:p>
        </p:txBody>
      </p:sp>
      <p:sp>
        <p:nvSpPr>
          <p:cNvPr id="10" name="Text 8"/>
          <p:cNvSpPr/>
          <p:nvPr/>
        </p:nvSpPr>
        <p:spPr>
          <a:xfrm>
            <a:off x="1493565" y="5087243"/>
            <a:ext cx="7585626" cy="2304083"/>
          </a:xfrm>
          <a:prstGeom prst="rect">
            <a:avLst/>
          </a:prstGeom>
          <a:noFill/>
          <a:ln/>
        </p:spPr>
        <p:txBody>
          <a:bodyPr wrap="square" lIns="25400" tIns="25400" rIns="25400" bIns="25400" rtlCol="0" anchor="t">
            <a:normAutofit/>
          </a:bodyPr>
          <a:lstStyle/>
          <a:p>
            <a:pPr marL="0" indent="0" algn="l">
              <a:lnSpc>
                <a:spcPct val="120615"/>
              </a:lnSpc>
              <a:buNone/>
            </a:pPr>
            <a:endParaRPr lang="en-US" sz="2100" dirty="0"/>
          </a:p>
        </p:txBody>
      </p:sp>
      <p:sp>
        <p:nvSpPr>
          <p:cNvPr id="11" name="Text 9"/>
          <p:cNvSpPr/>
          <p:nvPr/>
        </p:nvSpPr>
        <p:spPr>
          <a:xfrm>
            <a:off x="9429750" y="5087243"/>
            <a:ext cx="464865" cy="2304083"/>
          </a:xfrm>
          <a:prstGeom prst="rect">
            <a:avLst/>
          </a:prstGeom>
          <a:noFill/>
          <a:ln/>
        </p:spPr>
        <p:txBody>
          <a:bodyPr wrap="square" lIns="25400" tIns="25400" rIns="25400" bIns="25400" rtlCol="0" anchor="t">
            <a:normAutofit/>
          </a:bodyPr>
          <a:lstStyle/>
          <a:p>
            <a:pPr marL="0" indent="0" algn="l">
              <a:buNone/>
            </a:pPr>
            <a:r>
              <a:rPr lang="en-US" sz="2550" dirty="0">
                <a:solidFill>
                  <a:srgbClr val="3D5AA8"/>
                </a:solidFill>
                <a:latin typeface="IBM Plex Mono" pitchFamily="34" charset="0"/>
                <a:ea typeface="IBM Plex Mono" pitchFamily="34" charset="-122"/>
                <a:cs typeface="IBM Plex Mono" pitchFamily="34" charset="-120"/>
              </a:rPr>
              <a:t>04</a:t>
            </a:r>
            <a:endParaRPr lang="en-US" sz="2550" dirty="0"/>
          </a:p>
        </p:txBody>
      </p:sp>
      <p:sp>
        <p:nvSpPr>
          <p:cNvPr id="12" name="Text 10"/>
          <p:cNvSpPr/>
          <p:nvPr/>
        </p:nvSpPr>
        <p:spPr>
          <a:xfrm>
            <a:off x="1460705" y="5087242"/>
            <a:ext cx="7585626" cy="2304083"/>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1C1C1A"/>
                </a:solidFill>
                <a:latin typeface="Arial" pitchFamily="34" charset="0"/>
                <a:ea typeface="Arial" pitchFamily="34" charset="-122"/>
                <a:cs typeface="Arial" pitchFamily="34" charset="-120"/>
              </a:rPr>
              <a:t>Does the dependency graph improve retrieval over simpler indexes?</a:t>
            </a:r>
            <a:endParaRPr lang="en-US" sz="2100" dirty="0"/>
          </a:p>
        </p:txBody>
      </p:sp>
      <p:sp>
        <p:nvSpPr>
          <p:cNvPr id="14" name="Text 12"/>
          <p:cNvSpPr/>
          <p:nvPr/>
        </p:nvSpPr>
        <p:spPr>
          <a:xfrm>
            <a:off x="10008915" y="5087242"/>
            <a:ext cx="7195342" cy="1981274"/>
          </a:xfrm>
          <a:prstGeom prst="rect">
            <a:avLst/>
          </a:prstGeom>
          <a:noFill/>
          <a:ln/>
        </p:spPr>
        <p:txBody>
          <a:bodyPr wrap="square" lIns="25400" tIns="25400" rIns="25400" bIns="25400" rtlCol="0" anchor="t">
            <a:normAutofit/>
          </a:bodyPr>
          <a:lstStyle/>
          <a:p>
            <a:pPr marL="0" indent="0" algn="l">
              <a:lnSpc>
                <a:spcPct val="120615"/>
              </a:lnSpc>
              <a:buNone/>
            </a:pPr>
            <a:r>
              <a:rPr lang="en-US" sz="2100" dirty="0">
                <a:solidFill>
                  <a:srgbClr val="1C1C1A"/>
                </a:solidFill>
                <a:latin typeface="Arial" pitchFamily="34" charset="0"/>
                <a:ea typeface="Arial" pitchFamily="34" charset="-122"/>
                <a:cs typeface="Arial" pitchFamily="34" charset="-120"/>
              </a:rPr>
              <a:t>Which forecasts improve decisions enough to justify training?</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3F1EC"/>
        </a:solidFill>
        <a:effectLst/>
      </p:bgPr>
    </p:bg>
    <p:spTree>
      <p:nvGrpSpPr>
        <p:cNvPr id="1" name=""/>
        <p:cNvGrpSpPr/>
        <p:nvPr/>
      </p:nvGrpSpPr>
      <p:grpSpPr>
        <a:xfrm>
          <a:off x="0" y="0"/>
          <a:ext cx="0" cy="0"/>
          <a:chOff x="0" y="0"/>
          <a:chExt cx="0" cy="0"/>
        </a:xfrm>
      </p:grpSpPr>
      <p:sp>
        <p:nvSpPr>
          <p:cNvPr id="3" name="Text 1"/>
          <p:cNvSpPr/>
          <p:nvPr/>
        </p:nvSpPr>
        <p:spPr>
          <a:xfrm>
            <a:off x="914400" y="1285875"/>
            <a:ext cx="18105120" cy="678135"/>
          </a:xfrm>
          <a:prstGeom prst="rect">
            <a:avLst/>
          </a:prstGeom>
          <a:noFill/>
          <a:ln/>
        </p:spPr>
        <p:txBody>
          <a:bodyPr wrap="square" lIns="25400" tIns="25400" rIns="25400" bIns="25400" rtlCol="0" anchor="t">
            <a:normAutofit/>
          </a:bodyPr>
          <a:lstStyle/>
          <a:p>
            <a:pPr marL="0" indent="0" algn="l">
              <a:lnSpc>
                <a:spcPct val="86154"/>
              </a:lnSpc>
              <a:buNone/>
            </a:pPr>
            <a:r>
              <a:rPr lang="en-US" sz="4500" b="1" dirty="0">
                <a:solidFill>
                  <a:srgbClr val="1C1C1A"/>
                </a:solidFill>
                <a:latin typeface="IBM Plex Mono" pitchFamily="34" charset="0"/>
                <a:ea typeface="IBM Plex Mono" pitchFamily="34" charset="-122"/>
                <a:cs typeface="IBM Plex Mono" pitchFamily="34" charset="-120"/>
              </a:rPr>
              <a:t>Next steps</a:t>
            </a:r>
            <a:endParaRPr lang="en-US" sz="4500" dirty="0"/>
          </a:p>
        </p:txBody>
      </p:sp>
      <p:sp>
        <p:nvSpPr>
          <p:cNvPr id="4" name="Shape 2"/>
          <p:cNvSpPr/>
          <p:nvPr/>
        </p:nvSpPr>
        <p:spPr>
          <a:xfrm>
            <a:off x="914400" y="2268810"/>
            <a:ext cx="16459200" cy="19050"/>
          </a:xfrm>
          <a:prstGeom prst="rect">
            <a:avLst/>
          </a:prstGeom>
          <a:solidFill>
            <a:srgbClr val="C9C6BC"/>
          </a:solidFill>
          <a:ln/>
        </p:spPr>
        <p:txBody>
          <a:bodyPr/>
          <a:lstStyle/>
          <a:p>
            <a:endParaRPr lang="en-US"/>
          </a:p>
        </p:txBody>
      </p:sp>
      <p:sp>
        <p:nvSpPr>
          <p:cNvPr id="5" name="Text 3"/>
          <p:cNvSpPr/>
          <p:nvPr/>
        </p:nvSpPr>
        <p:spPr>
          <a:xfrm>
            <a:off x="914400" y="2592660"/>
            <a:ext cx="236265" cy="381000"/>
          </a:xfrm>
          <a:prstGeom prst="rect">
            <a:avLst/>
          </a:prstGeom>
          <a:noFill/>
          <a:ln/>
        </p:spPr>
        <p:txBody>
          <a:bodyPr wrap="square" lIns="25400" tIns="25400" rIns="25400" bIns="25400" rtlCol="0" anchor="t">
            <a:normAutofit/>
          </a:bodyPr>
          <a:lstStyle/>
          <a:p>
            <a:pPr marL="0" indent="0" algn="l">
              <a:buNone/>
            </a:pPr>
            <a:r>
              <a:rPr lang="en-US" sz="2100" dirty="0">
                <a:solidFill>
                  <a:srgbClr val="3D5AA8"/>
                </a:solidFill>
                <a:latin typeface="IBM Plex Mono" pitchFamily="34" charset="0"/>
                <a:ea typeface="IBM Plex Mono" pitchFamily="34" charset="-122"/>
                <a:cs typeface="IBM Plex Mono" pitchFamily="34" charset="-120"/>
              </a:rPr>
              <a:t>1</a:t>
            </a:r>
            <a:endParaRPr lang="en-US" sz="2100" dirty="0"/>
          </a:p>
        </p:txBody>
      </p:sp>
      <p:sp>
        <p:nvSpPr>
          <p:cNvPr id="6" name="Text 4"/>
          <p:cNvSpPr/>
          <p:nvPr/>
        </p:nvSpPr>
        <p:spPr>
          <a:xfrm>
            <a:off x="1303065" y="2602185"/>
            <a:ext cx="14785635"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Run a baseline in a benchmark and measure tokens and estimated cost; implement a reusable microservice-based architecture.</a:t>
            </a:r>
            <a:endParaRPr lang="en-US" sz="1950" dirty="0"/>
          </a:p>
        </p:txBody>
      </p:sp>
      <p:sp>
        <p:nvSpPr>
          <p:cNvPr id="7" name="Text 5"/>
          <p:cNvSpPr/>
          <p:nvPr/>
        </p:nvSpPr>
        <p:spPr>
          <a:xfrm>
            <a:off x="914400" y="3082230"/>
            <a:ext cx="236265" cy="381000"/>
          </a:xfrm>
          <a:prstGeom prst="rect">
            <a:avLst/>
          </a:prstGeom>
          <a:noFill/>
          <a:ln/>
        </p:spPr>
        <p:txBody>
          <a:bodyPr wrap="square" lIns="25400" tIns="25400" rIns="25400" bIns="25400" rtlCol="0" anchor="t">
            <a:normAutofit/>
          </a:bodyPr>
          <a:lstStyle/>
          <a:p>
            <a:pPr marL="0" indent="0" algn="l">
              <a:buNone/>
            </a:pPr>
            <a:r>
              <a:rPr lang="en-US" sz="2100" dirty="0">
                <a:solidFill>
                  <a:srgbClr val="3D5AA8"/>
                </a:solidFill>
                <a:latin typeface="IBM Plex Mono" pitchFamily="34" charset="0"/>
                <a:ea typeface="IBM Plex Mono" pitchFamily="34" charset="-122"/>
                <a:cs typeface="IBM Plex Mono" pitchFamily="34" charset="-120"/>
              </a:rPr>
              <a:t>2</a:t>
            </a:r>
            <a:endParaRPr lang="en-US" sz="2100" dirty="0"/>
          </a:p>
        </p:txBody>
      </p:sp>
      <p:sp>
        <p:nvSpPr>
          <p:cNvPr id="8" name="Text 6"/>
          <p:cNvSpPr/>
          <p:nvPr/>
        </p:nvSpPr>
        <p:spPr>
          <a:xfrm>
            <a:off x="1303064" y="3091755"/>
            <a:ext cx="9004718" cy="422896"/>
          </a:xfrm>
          <a:prstGeom prst="rect">
            <a:avLst/>
          </a:prstGeom>
          <a:noFill/>
          <a:ln/>
        </p:spPr>
        <p:txBody>
          <a:bodyPr wrap="square" lIns="25400" tIns="25400" rIns="25400" bIns="25400" rtlCol="0" anchor="t">
            <a:normAutofit fontScale="92500"/>
          </a:bodyPr>
          <a:lstStyle/>
          <a:p>
            <a:pPr marL="0" indent="0" algn="l">
              <a:lnSpc>
                <a:spcPct val="121333"/>
              </a:lnSpc>
              <a:buNone/>
            </a:pPr>
            <a:r>
              <a:rPr lang="en-US" sz="1950" dirty="0">
                <a:solidFill>
                  <a:srgbClr val="1C1C1A"/>
                </a:solidFill>
                <a:latin typeface="Arial" pitchFamily="34" charset="0"/>
                <a:ea typeface="Arial" pitchFamily="34" charset="-122"/>
                <a:cs typeface="Arial" pitchFamily="34" charset="-120"/>
              </a:rPr>
              <a:t>Build a simple shared agent memory infrastructure and a minimal delegation pipeline.</a:t>
            </a:r>
            <a:endParaRPr lang="en-US" sz="1950" dirty="0"/>
          </a:p>
        </p:txBody>
      </p:sp>
      <p:sp>
        <p:nvSpPr>
          <p:cNvPr id="10" name="Text 8"/>
          <p:cNvSpPr/>
          <p:nvPr/>
        </p:nvSpPr>
        <p:spPr>
          <a:xfrm>
            <a:off x="1150665" y="3790875"/>
            <a:ext cx="12196805" cy="2695725"/>
          </a:xfrm>
          <a:prstGeom prst="rect">
            <a:avLst/>
          </a:prstGeom>
          <a:noFill/>
          <a:ln/>
        </p:spPr>
        <p:txBody>
          <a:bodyPr wrap="square" lIns="25400" tIns="25400" rIns="25400" bIns="25400" rtlCol="0" anchor="t">
            <a:normAutofit/>
          </a:bodyPr>
          <a:lstStyle/>
          <a:p>
            <a:pPr marL="160020" indent="-160020" algn="l">
              <a:lnSpc>
                <a:spcPct val="122182"/>
              </a:lnSpc>
              <a:buSzPct val="100000"/>
              <a:buChar char="•"/>
              <a:tabLst>
                <a:tab pos="160020" algn="l"/>
              </a:tabLst>
            </a:pPr>
            <a:r>
              <a:rPr lang="en-US" sz="1800" dirty="0">
                <a:solidFill>
                  <a:srgbClr val="1C1C1A"/>
                </a:solidFill>
                <a:latin typeface="Arial" pitchFamily="34" charset="0"/>
                <a:ea typeface="Arial" pitchFamily="34" charset="-122"/>
                <a:cs typeface="Arial" pitchFamily="34" charset="-120"/>
              </a:rPr>
              <a:t>Version observations, evidence, results, dependencies, and worker histories.</a:t>
            </a:r>
          </a:p>
          <a:p>
            <a:pPr marL="160020" indent="-160020" algn="l">
              <a:lnSpc>
                <a:spcPct val="122182"/>
              </a:lnSpc>
              <a:buSzPct val="100000"/>
              <a:buChar char="•"/>
              <a:tabLst>
                <a:tab pos="160020" algn="l"/>
              </a:tabLst>
            </a:pPr>
            <a:endParaRPr lang="en-US" sz="1800" dirty="0"/>
          </a:p>
          <a:p>
            <a:pPr marL="160020" indent="-160020" algn="l">
              <a:lnSpc>
                <a:spcPct val="122182"/>
              </a:lnSpc>
              <a:buSzPct val="100000"/>
              <a:buChar char="•"/>
              <a:tabLst>
                <a:tab pos="160020" algn="l"/>
              </a:tabLst>
            </a:pPr>
            <a:r>
              <a:rPr lang="en-US" sz="1800" dirty="0">
                <a:solidFill>
                  <a:srgbClr val="1C1C1A"/>
                </a:solidFill>
                <a:latin typeface="Arial" pitchFamily="34" charset="0"/>
                <a:ea typeface="Arial" pitchFamily="34" charset="-122"/>
                <a:cs typeface="Arial" pitchFamily="34" charset="-120"/>
              </a:rPr>
              <a:t>Core operations: create agent worker, delegate task, retrieve evidence, return result, resume worker. (Context Fold baseline)</a:t>
            </a:r>
          </a:p>
          <a:p>
            <a:pPr marL="160020" indent="-160020" algn="l">
              <a:lnSpc>
                <a:spcPct val="122182"/>
              </a:lnSpc>
              <a:buSzPct val="100000"/>
              <a:buChar char="•"/>
              <a:tabLst>
                <a:tab pos="160020" algn="l"/>
              </a:tabLst>
            </a:pPr>
            <a:endParaRPr lang="en-US" sz="1800" dirty="0"/>
          </a:p>
          <a:p>
            <a:pPr marL="160020" indent="-160020" algn="l">
              <a:lnSpc>
                <a:spcPct val="122182"/>
              </a:lnSpc>
              <a:buSzPct val="100000"/>
              <a:buChar char="•"/>
              <a:tabLst>
                <a:tab pos="160020" algn="l"/>
              </a:tabLst>
            </a:pPr>
            <a:r>
              <a:rPr lang="en-US" sz="1800" dirty="0">
                <a:solidFill>
                  <a:srgbClr val="1C1C1A"/>
                </a:solidFill>
                <a:latin typeface="Arial" pitchFamily="34" charset="0"/>
                <a:ea typeface="Arial" pitchFamily="34" charset="-122"/>
                <a:cs typeface="Arial" pitchFamily="34" charset="-120"/>
              </a:rPr>
              <a:t>Hardcoded delegation policy; workers return concise results plus evidence references; count communication and retrieval cost.</a:t>
            </a:r>
          </a:p>
          <a:p>
            <a:pPr algn="l">
              <a:lnSpc>
                <a:spcPct val="122182"/>
              </a:lnSpc>
              <a:buSzPct val="100000"/>
              <a:tabLst>
                <a:tab pos="160020" algn="l"/>
              </a:tabLst>
            </a:pPr>
            <a:endParaRPr lang="en-US" dirty="0">
              <a:solidFill>
                <a:srgbClr val="1C1C1A"/>
              </a:solidFill>
              <a:latin typeface="Arial" pitchFamily="34" charset="0"/>
              <a:cs typeface="Arial" pitchFamily="34" charset="-120"/>
            </a:endParaRPr>
          </a:p>
          <a:p>
            <a:pPr>
              <a:lnSpc>
                <a:spcPct val="122182"/>
              </a:lnSpc>
              <a:buSzPct val="100000"/>
              <a:tabLst>
                <a:tab pos="160020" algn="l"/>
              </a:tabLst>
            </a:pPr>
            <a:endParaRPr lang="en-US" dirty="0">
              <a:solidFill>
                <a:srgbClr val="1C1C1A"/>
              </a:solidFill>
              <a:latin typeface="Arial" pitchFamily="34" charset="0"/>
              <a:cs typeface="Arial" pitchFamily="34" charset="-120"/>
            </a:endParaRPr>
          </a:p>
        </p:txBody>
      </p:sp>
      <p:sp>
        <p:nvSpPr>
          <p:cNvPr id="14" name="TextBox 13">
            <a:extLst>
              <a:ext uri="{FF2B5EF4-FFF2-40B4-BE49-F238E27FC236}">
                <a16:creationId xmlns:a16="http://schemas.microsoft.com/office/drawing/2014/main" id="{A3CF7DD9-AAAD-CCF2-3F25-A39DF11EFF10}"/>
              </a:ext>
            </a:extLst>
          </p:cNvPr>
          <p:cNvSpPr txBox="1"/>
          <p:nvPr/>
        </p:nvSpPr>
        <p:spPr>
          <a:xfrm>
            <a:off x="914400" y="6762824"/>
            <a:ext cx="9509760" cy="403124"/>
          </a:xfrm>
          <a:prstGeom prst="rect">
            <a:avLst/>
          </a:prstGeom>
          <a:noFill/>
        </p:spPr>
        <p:txBody>
          <a:bodyPr wrap="square">
            <a:spAutoFit/>
          </a:bodyPr>
          <a:lstStyle/>
          <a:p>
            <a:pPr>
              <a:lnSpc>
                <a:spcPct val="122182"/>
              </a:lnSpc>
              <a:buSzPct val="100000"/>
              <a:tabLst>
                <a:tab pos="160020" algn="l"/>
              </a:tabLst>
            </a:pPr>
            <a:r>
              <a:rPr lang="en-US" sz="1800" dirty="0">
                <a:solidFill>
                  <a:srgbClr val="3D5AA8"/>
                </a:solidFill>
                <a:latin typeface="IBM Plex Mono" pitchFamily="34" charset="0"/>
                <a:cs typeface="Arial" pitchFamily="34" charset="-120"/>
              </a:rPr>
              <a:t>3</a:t>
            </a:r>
            <a:r>
              <a:rPr lang="en-US" sz="1800" dirty="0">
                <a:solidFill>
                  <a:srgbClr val="1C1C1A"/>
                </a:solidFill>
                <a:latin typeface="Arial" pitchFamily="34" charset="0"/>
                <a:cs typeface="Arial" pitchFamily="34" charset="-120"/>
              </a:rPr>
              <a:t>   Architect Cost model, theory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1894</Words>
  <Application>Microsoft Macintosh PowerPoint</Application>
  <PresentationFormat>Custom</PresentationFormat>
  <Paragraphs>219</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Courier New</vt:lpstr>
      <vt:lpstr>IBM Plex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Sathishkumar, Kavin</cp:lastModifiedBy>
  <cp:revision>5</cp:revision>
  <dcterms:created xsi:type="dcterms:W3CDTF">2026-09-08T16:12:13Z</dcterms:created>
  <dcterms:modified xsi:type="dcterms:W3CDTF">2026-09-08T18:44:25Z</dcterms:modified>
</cp:coreProperties>
</file>